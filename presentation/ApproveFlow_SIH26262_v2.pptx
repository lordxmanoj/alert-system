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product and the problem statement. All data in the prototype is fictional.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safeguard is part of the problem, not an afterthought.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manoj/Videos/sih 5th statement/brand/approveflow-logo-t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F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SIH26262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CE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ApproveFlow AICTE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&amp; Compliance Command Centre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AICTE approval workflow automation, compliance monitoring and alert management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[add team name] · Institution: [add institution]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CE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problem: manual follow-up, missed deadlines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official statement asks for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583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move through scrutiny, re-scrutiny, EVC and competent-authority stages, each with its own rules.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Undertakings and lease or document renewals carry due dates that institutions must meet.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Stage-wise pendency, EVC scheduling and expiring documents are tracked by hand across regions.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deadlines and expired documents lead to escalations that come late, or not at all.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589520" y="1828800"/>
            <a:ext cx="4023360" cy="402336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0" y="2148840"/>
            <a:ext cx="164592" cy="164592"/>
          </a:xfrm>
          <a:prstGeom prst="rect">
            <a:avLst/>
          </a:prstGeom>
          <a:solidFill>
            <a:srgbClr val="E8789F"/>
          </a:solidFill>
          <a:ln w="12700">
            <a:solidFill>
              <a:srgbClr val="E8789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must not do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315468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must not approve, reject, verify or close a case. Statutory scrutiny, inspection and decisions stay with the competent authority.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ApproveFlow · SIH26262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CE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platform for approvals and compliance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modules, one set of rules, one audit trail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01168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164592" cy="164592"/>
          </a:xfrm>
          <a:prstGeom prst="rect">
            <a:avLst/>
          </a:prstGeom>
          <a:solidFill>
            <a:srgbClr val="C1F7DC"/>
          </a:solidFill>
          <a:ln w="12700">
            <a:solidFill>
              <a:srgbClr val="C1F7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configurable routes; checklists, owners and target days.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20440" cy="201168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2148840"/>
            <a:ext cx="164592" cy="164592"/>
          </a:xfrm>
          <a:prstGeom prst="rect">
            <a:avLst/>
          </a:prstGeom>
          <a:solidFill>
            <a:srgbClr val="C1F7DC"/>
          </a:solidFill>
          <a:ln w="12700">
            <a:solidFill>
              <a:srgbClr val="C1F7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EVC scheduling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Queue, board, calendar and list; visits must be recorded first.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201168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2148840"/>
            <a:ext cx="164592" cy="164592"/>
          </a:xfrm>
          <a:prstGeom prst="rect">
            <a:avLst/>
          </a:prstGeom>
          <a:solidFill>
            <a:srgbClr val="C1F7DC"/>
          </a:solidFill>
          <a:ln w="12700">
            <a:solidFill>
              <a:srgbClr val="C1F7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Undertakings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Conditions, evidence versions, reviewer verification.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520440" cy="201168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389120"/>
            <a:ext cx="164592" cy="164592"/>
          </a:xfrm>
          <a:prstGeom prst="rect">
            <a:avLst/>
          </a:prstGeom>
          <a:solidFill>
            <a:srgbClr val="C1F7DC"/>
          </a:solidFill>
          <a:ln w="12700">
            <a:solidFill>
              <a:srgbClr val="C1F7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937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validity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394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tracking, renewals kept as versions, review before use.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97680" y="4069080"/>
            <a:ext cx="3520440" cy="201168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4389120"/>
            <a:ext cx="164592" cy="164592"/>
          </a:xfrm>
          <a:prstGeom prst="rect">
            <a:avLst/>
          </a:prstGeom>
          <a:solidFill>
            <a:srgbClr val="BDA0BC"/>
          </a:solidFill>
          <a:ln w="12700">
            <a:solidFill>
              <a:srgbClr val="BDA0B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4937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escalation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5394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rules, one alert per trigger, automatic escalation.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0" y="4069080"/>
            <a:ext cx="3520440" cy="201168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21040" y="4389120"/>
            <a:ext cx="164592" cy="164592"/>
          </a:xfrm>
          <a:prstGeom prst="rect">
            <a:avLst/>
          </a:prstGeom>
          <a:solidFill>
            <a:srgbClr val="824670"/>
          </a:solidFill>
          <a:ln w="12700">
            <a:solidFill>
              <a:srgbClr val="82467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0" y="4937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reports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5394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trail, nine reports, authorised CSV export.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ApproveFlow · SIH26262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CE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Routing that follows the approval handbook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“New institution”: four configured stages, each with an owner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68880" cy="2011680"/>
          </a:xfrm>
          <a:prstGeom prst="rect">
            <a:avLst/>
          </a:prstGeom>
          <a:solidFill>
            <a:srgbClr val="131016"/>
          </a:solidFill>
          <a:ln w="25400">
            <a:solidFill>
              <a:srgbClr val="C1F7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1F7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Scrutiny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officer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15 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2700000">
            <a:off x="3090672" y="3017520"/>
            <a:ext cx="228600" cy="228600"/>
          </a:xfrm>
          <a:prstGeom prst="rtTriangle">
            <a:avLst/>
          </a:prstGeom>
          <a:solidFill>
            <a:srgbClr val="C1F7DC"/>
          </a:solidFill>
          <a:ln w="12700">
            <a:solidFill>
              <a:srgbClr val="C1F7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2194560"/>
            <a:ext cx="2468880" cy="2011680"/>
          </a:xfrm>
          <a:prstGeom prst="rect">
            <a:avLst/>
          </a:prstGeom>
          <a:solidFill>
            <a:srgbClr val="131016"/>
          </a:solidFill>
          <a:ln w="25400">
            <a:solidFill>
              <a:srgbClr val="C1F7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1F7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Re-scrutiny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reviewer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10 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2700000">
            <a:off x="5925312" y="3017520"/>
            <a:ext cx="228600" cy="228600"/>
          </a:xfrm>
          <a:prstGeom prst="rtTriangle">
            <a:avLst/>
          </a:prstGeom>
          <a:solidFill>
            <a:srgbClr val="C1F7DC"/>
          </a:solidFill>
          <a:ln w="12700">
            <a:solidFill>
              <a:srgbClr val="C1F7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194560"/>
            <a:ext cx="2468880" cy="2011680"/>
          </a:xfrm>
          <a:prstGeom prst="rect">
            <a:avLst/>
          </a:prstGeom>
          <a:solidFill>
            <a:srgbClr val="131016"/>
          </a:solidFill>
          <a:ln w="25400">
            <a:solidFill>
              <a:srgbClr val="C1F7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1F7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EVC visit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EVC coordinator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30 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rot="2700000">
            <a:off x="8759952" y="3017520"/>
            <a:ext cx="228600" cy="228600"/>
          </a:xfrm>
          <a:prstGeom prst="rtTriangle">
            <a:avLst/>
          </a:prstGeom>
          <a:solidFill>
            <a:srgbClr val="C1F7DC"/>
          </a:solidFill>
          <a:ln w="12700">
            <a:solidFill>
              <a:srgbClr val="C1F7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2194560"/>
            <a:ext cx="2468880" cy="2011680"/>
          </a:xfrm>
          <a:prstGeom prst="rect">
            <a:avLst/>
          </a:prstGeom>
          <a:solidFill>
            <a:srgbClr val="131016"/>
          </a:solidFill>
          <a:ln w="25400">
            <a:solidFill>
              <a:srgbClr val="ECEE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11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CE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Competent decision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Competent authority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10 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5720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 can only be completed by its owner role, with every checklist item confirmed.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EVC stage cannot close until the visit is recorded. Returns need a written reason.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competent authority can record the final outcome, with a stated reason.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ApproveFlow · SIH26262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CE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application has one timeline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Stage, checklist, next action and deadline in one place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609344"/>
            <a:ext cx="7754112" cy="4873752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</p:spPr>
      </p:sp>
      <p:pic>
        <p:nvPicPr>
          <p:cNvPr id="5" name="Image 0" descr="C:\Users\manoj\Videos\sih 5th statement\presentation\screenshots\03-application-detail-scrutin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680960" cy="4800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37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detail: stepper, checklist, assignee and deadline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1737360"/>
            <a:ext cx="3291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bureau officer sees only the actions their stage allows.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written to the timeline and the audit trail.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show as on track, due soon or overdue.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ApproveFlow · SIH26262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CE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EVC queue: from waiting to visit completed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institutions are tagged; overdue visits are flagged in red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609344"/>
            <a:ext cx="7754112" cy="4873752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</p:spPr>
      </p:sp>
      <p:pic>
        <p:nvPicPr>
          <p:cNvPr id="5" name="Image 0" descr="C:\Users\manoj\Videos\sih 5th statement\presentation\screenshots\04-evc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680960" cy="4800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37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EVC status board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1737360"/>
            <a:ext cx="3291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enter the queue only after their preliminary stage.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Board, month calendar and list views all open the same record.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date and observations are recorded before the stage can close.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ApproveFlow · SIH26262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CE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Evidence is verified, never assumed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are versions; the verified copy changes only on reviewer acceptance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700784"/>
            <a:ext cx="5559552" cy="3502152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</p:spPr>
      </p:sp>
      <p:pic>
        <p:nvPicPr>
          <p:cNvPr id="5" name="Image 0" descr="C:\Users\manoj\Videos\sih 5th statement\presentation\screenshots\08-undertaking-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486400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Undertaking: two evidence versions, reviewer remarks kept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72784" y="1700784"/>
            <a:ext cx="5559552" cy="3502152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</p:spPr>
      </p:sp>
      <p:pic>
        <p:nvPicPr>
          <p:cNvPr id="8" name="Image 1" descr="C:\Users\manoj\Videos\sih 5th statement\presentation\screenshots\11-document-renewal-his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429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0936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renewal: version 1 kept as superseded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ApproveFlow · SIH26262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CE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Alerts that escalate, and never duplicate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checks again and nothing new is created for the same trigger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700784"/>
            <a:ext cx="7022592" cy="4416552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</p:spPr>
      </p:sp>
      <p:pic>
        <p:nvPicPr>
          <p:cNvPr id="5" name="Image 0" descr="C:\Users\manoj\Videos\sih 5th statement\presentation\screenshots\13-escal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172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&amp; escalations after the clock moved forward ten days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863840" y="1737360"/>
            <a:ext cx="3840480" cy="210312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138160" y="2057400"/>
            <a:ext cx="164592" cy="164592"/>
          </a:xfrm>
          <a:prstGeom prst="rect">
            <a:avLst/>
          </a:prstGeom>
          <a:solidFill>
            <a:srgbClr val="BDA0BC"/>
          </a:solidFill>
          <a:ln w="12700">
            <a:solidFill>
              <a:srgbClr val="BDA0B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alert per trigger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3063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are idempotent. The second run in the demo reports 0 new alerts and 0 escalations.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863840" y="4069080"/>
            <a:ext cx="3840480" cy="210312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138160" y="4389120"/>
            <a:ext cx="164592" cy="164592"/>
          </a:xfrm>
          <a:prstGeom prst="rect">
            <a:avLst/>
          </a:prstGeom>
          <a:solidFill>
            <a:srgbClr val="824670"/>
          </a:solidFill>
          <a:ln w="12700">
            <a:solidFill>
              <a:srgbClr val="82467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ladder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5394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Assignee, then regional supervisor, then the designated administrative authority. Each level fires once.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ApproveFlow · SIH26262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CE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Reports and an audit trail nobody can edit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CSV export; the database refuses edits to audit rows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700784"/>
            <a:ext cx="5559552" cy="3502152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</p:spPr>
      </p:sp>
      <p:pic>
        <p:nvPicPr>
          <p:cNvPr id="5" name="Image 0" descr="C:\Users\manoj\Videos\sih 5th statement\presentation\screenshots\15-reports-pend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486400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Pendency by stage, with overdue cases in red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72784" y="1700784"/>
            <a:ext cx="5559552" cy="3502152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</p:spPr>
      </p:sp>
      <p:pic>
        <p:nvPicPr>
          <p:cNvPr id="8" name="Image 1" descr="C:\Users\manoj\Videos\sih 5th statement\presentation\screenshots\17-audit-tr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429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0936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with JSON details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ApproveFlow · SIH26262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CE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Access by role, enforced on the server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buttons are a convenience; every write and query is checked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05740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164592" cy="164592"/>
          </a:xfrm>
          <a:prstGeom prst="rect">
            <a:avLst/>
          </a:prstGeom>
          <a:solidFill>
            <a:srgbClr val="C1F7DC"/>
          </a:solidFill>
          <a:ln w="12700">
            <a:solidFill>
              <a:srgbClr val="C1F7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scope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users see only their institution. Regional officers see their region.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394960" cy="205740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2057400"/>
            <a:ext cx="164592" cy="164592"/>
          </a:xfrm>
          <a:prstGeom prst="rect">
            <a:avLst/>
          </a:prstGeom>
          <a:solidFill>
            <a:srgbClr val="C1F7DC"/>
          </a:solidFill>
          <a:ln w="12700">
            <a:solidFill>
              <a:srgbClr val="C1F7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0632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PNG or JPG up to 10 MB, checked by content; downloads are authorised and logged.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94960" cy="205740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343400"/>
            <a:ext cx="164592" cy="164592"/>
          </a:xfrm>
          <a:prstGeom prst="rect">
            <a:avLst/>
          </a:prstGeom>
          <a:solidFill>
            <a:srgbClr val="C1F7DC"/>
          </a:solidFill>
          <a:ln w="12700">
            <a:solidFill>
              <a:srgbClr val="C1F7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892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3492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is limited to authorised roles and neutralises spreadsheet formulas.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4023360"/>
            <a:ext cx="5394960" cy="205740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4343400"/>
            <a:ext cx="164592" cy="164592"/>
          </a:xfrm>
          <a:prstGeom prst="rect">
            <a:avLst/>
          </a:prstGeom>
          <a:solidFill>
            <a:srgbClr val="BDA0BC"/>
          </a:solidFill>
          <a:ln w="12700">
            <a:solidFill>
              <a:srgbClr val="BDA0B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4892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sign-in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53492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accounts only. Production needs real identity and encryption at rest.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ApproveFlow · SIH26262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CE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Automation supports. People decide.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reminders and escalations inform the responsible officer. They never change a decision.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cannot be approved, rejected or closed by an alert or an overdue timer.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submissions do not count as verification until a reviewer accepts them.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carries a recorded reason and is kept in the audit trail.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ApproveFlow · SIH26262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CE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Verified, not just demonstrated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the final run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201168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C1F7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59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integration tests passed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560320" cy="201168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C1F7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walkthroughs passed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60320" cy="201168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C1F7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lint errors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560320" cy="201168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C1F7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24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in the production build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976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cover deadline boundaries, deduplication, escalation idempotency, permissions, scoping, file checks and audit immutability.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Walkthroughs A to E run through the real interface, including a mobile check.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ApproveFlow · SIH26262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CE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the official requirements are covered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mapping in docs/REQUIREMENTS_MAP.md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CEE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46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CEE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is met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467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3D2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Routing and stages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3D2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configured routes; owner-only stages; returns with reasons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01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3D2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Dashboards and pendency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3D2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overviews, pendency charts, ageing, workload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01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3D2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EVC scheduling and alerts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3D2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Queue, calendar, visit gating, EVC deadline alerts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01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3D2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Undertakings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3D2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dates, evidence versions, reviewer verification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01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3D2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Lease and document validity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3D2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 windows, renewals as versions, history kept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01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3D2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 Notifications, escalation, reports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3D2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 notifications, escalation ladder, nine reports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01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ApproveFlow · SIH26262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CE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Built to run on any laptop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 beyond Node.js and npm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972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with React 19 and strict TypeScript; server actions keep writes on the server.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PGlite: real Postgres running in-process, with versioned migrations and append-only triggers.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 shared across forms and the server; Motion for purposeful animation.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for unit and integration tests; Playwright for walkthroughs and screenshots.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ApproveFlow · SIH26262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CE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Honest limits and next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simulated, and what comes next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164592" cy="164592"/>
          </a:xfrm>
          <a:prstGeom prst="rect">
            <a:avLst/>
          </a:prstGeom>
          <a:solidFill>
            <a:srgbClr val="E8789F"/>
          </a:solidFill>
          <a:ln w="12700">
            <a:solidFill>
              <a:srgbClr val="E8789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yet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SMS providers. Connection to AICTE systems (none exists). A background scheduler. Row-level database policies. Production identity and encryption at rest. Hindi and other language support.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4297680"/>
          </a:xfrm>
          <a:prstGeom prst="rect">
            <a:avLst/>
          </a:prstGeom>
          <a:solidFill>
            <a:srgbClr val="131016"/>
          </a:solidFill>
          <a:ln w="12700">
            <a:solidFill>
              <a:srgbClr val="2A233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2057400"/>
            <a:ext cx="164592" cy="164592"/>
          </a:xfrm>
          <a:prstGeom prst="rect">
            <a:avLst/>
          </a:prstGeom>
          <a:solidFill>
            <a:srgbClr val="C1F7DC"/>
          </a:solidFill>
          <a:ln w="12700">
            <a:solidFill>
              <a:srgbClr val="C1F7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06324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every timeline, category and role against the APH. Connect to an official API only with authorisation. Add a scheduler and email notifications. Move to managed Postgres with encryption at rest.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ApproveFlow · SIH26262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CE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npm run db:reset, npm run dev, then follow docs/DEMO_SCRIPT.md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ApproveFlow · SIH26262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SIH 2026 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ApproveFlow AICTE, SIH26262</dc:title>
  <dc:subject>PptxGenJS Presentation</dc:subject>
  <dc:creator>PptxGenJS</dc:creator>
  <cp:lastModifiedBy>PptxGenJS</cp:lastModifiedBy>
  <cp:revision>1</cp:revision>
  <dcterms:created xsi:type="dcterms:W3CDTF">2026-10-27T19:55:20Z</dcterms:created>
  <dcterms:modified xsi:type="dcterms:W3CDTF">2026-10-27T19:55:20Z</dcterms:modified>
</cp:coreProperties>
</file>