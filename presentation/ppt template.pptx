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9" r:id="rId2"/>
    <p:sldId id="313" r:id="rId3"/>
    <p:sldId id="351" r:id="rId4"/>
    <p:sldId id="338" r:id="rId5"/>
    <p:sldId id="348" r:id="rId6"/>
    <p:sldId id="352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svg"/><Relationship Id="rId3" Type="http://schemas.openxmlformats.org/officeDocument/2006/relationships/image" Target="../media/image2.png"/><Relationship Id="rId7" Type="http://schemas.openxmlformats.org/officeDocument/2006/relationships/image" Target="../media/image23.svg"/><Relationship Id="rId12" Type="http://schemas.openxmlformats.org/officeDocument/2006/relationships/image" Target="../media/image28.svg"/><Relationship Id="rId17" Type="http://schemas.openxmlformats.org/officeDocument/2006/relationships/image" Target="../media/image3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Relationship Id="rId1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2.png"/><Relationship Id="rId7" Type="http://schemas.openxmlformats.org/officeDocument/2006/relationships/image" Target="../media/image37.sv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11" Type="http://schemas.openxmlformats.org/officeDocument/2006/relationships/image" Target="../media/image9.svg"/><Relationship Id="rId5" Type="http://schemas.openxmlformats.org/officeDocument/2006/relationships/image" Target="../media/image35.sv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30200" y="914400"/>
            <a:ext cx="10363200" cy="1219200"/>
          </a:xfrm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1D4ED8"/>
                </a:solidFill>
                <a:latin typeface="Times New Roman"/>
                <a:cs typeface="Times New Roman"/>
              </a:rPr>
              <a:t>DepositFlow:</a:t>
            </a:r>
          </a:p>
          <a:p>
            <a:pPr algn="ctr">
              <a:spcBef>
                <a:spcPts val="0"/>
              </a:spcBef>
            </a:pPr>
            <a:r>
              <a:rPr lang="en-US" sz="2600" b="1" dirty="0">
                <a:solidFill>
                  <a:srgbClr val="000000"/>
                </a:solidFill>
                <a:latin typeface="Times New Roman"/>
                <a:cs typeface="Times New Roman"/>
              </a:rPr>
              <a:t>Intelligent Security Deposit &amp; FDR Management Portal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1F3864"/>
                </a:solidFill>
                <a:latin typeface="Times New Roman"/>
                <a:cs typeface="Times New Roman"/>
              </a:rP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715000" cy="352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20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2000" b="1" dirty="0">
                <a:solidFill>
                  <a:srgbClr val="0F172A"/>
                </a:solidFill>
                <a:latin typeface="Arial"/>
                <a:cs typeface="Arial"/>
              </a:rPr>
              <a:t>Problem Statement ID – </a:t>
            </a:r>
            <a:r>
              <a:rPr lang="en-US" sz="2000" dirty="0">
                <a:solidFill>
                  <a:srgbClr val="0F172A"/>
                </a:solidFill>
                <a:latin typeface="Arial"/>
                <a:cs typeface="Arial"/>
              </a:rPr>
              <a:t>SIH26265</a:t>
            </a:r>
          </a:p>
          <a:p>
            <a:pPr marL="285750" indent="-285750">
              <a:lnSpc>
                <a:spcPct val="100000"/>
              </a:lnSpc>
              <a:spcBef>
                <a:spcPts val="20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2000" b="1" dirty="0">
                <a:solidFill>
                  <a:srgbClr val="0F172A"/>
                </a:solidFill>
                <a:latin typeface="Arial"/>
                <a:cs typeface="Arial"/>
              </a:rPr>
              <a:t>Problem Statement Title – </a:t>
            </a:r>
            <a:r>
              <a:rPr lang="en-US" sz="2000" dirty="0">
                <a:solidFill>
                  <a:srgbClr val="0F172A"/>
                </a:solidFill>
                <a:latin typeface="Arial"/>
                <a:cs typeface="Arial"/>
              </a:rPr>
              <a:t>Streamline of Security Deposit / FDR Portal</a:t>
            </a:r>
          </a:p>
          <a:p>
            <a:pPr marL="285750" indent="-285750">
              <a:lnSpc>
                <a:spcPct val="100000"/>
              </a:lnSpc>
              <a:spcBef>
                <a:spcPts val="20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2000" b="1" dirty="0">
                <a:solidFill>
                  <a:srgbClr val="0F172A"/>
                </a:solidFill>
                <a:latin typeface="Arial"/>
                <a:cs typeface="Arial"/>
              </a:rPr>
              <a:t>Theme – </a:t>
            </a:r>
            <a:r>
              <a:rPr lang="en-US" sz="2000" dirty="0">
                <a:solidFill>
                  <a:srgbClr val="0F172A"/>
                </a:solidFill>
                <a:latin typeface="Arial"/>
                <a:cs typeface="Arial"/>
              </a:rPr>
              <a:t>Smart Automation</a:t>
            </a:r>
          </a:p>
          <a:p>
            <a:pPr marL="285750" indent="-285750">
              <a:lnSpc>
                <a:spcPct val="100000"/>
              </a:lnSpc>
              <a:spcBef>
                <a:spcPts val="20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2000" b="1" dirty="0">
                <a:solidFill>
                  <a:srgbClr val="0F172A"/>
                </a:solidFill>
                <a:latin typeface="Arial"/>
                <a:cs typeface="Arial"/>
              </a:rPr>
              <a:t>PS Category – </a:t>
            </a:r>
            <a:r>
              <a:rPr lang="en-US" sz="2000" dirty="0">
                <a:solidFill>
                  <a:srgbClr val="0F172A"/>
                </a:solidFill>
                <a:latin typeface="Arial"/>
                <a:cs typeface="Arial"/>
              </a:rPr>
              <a:t>Software</a:t>
            </a:r>
          </a:p>
          <a:p>
            <a:pPr marL="285750" indent="-285750">
              <a:lnSpc>
                <a:spcPct val="100000"/>
              </a:lnSpc>
              <a:spcBef>
                <a:spcPts val="20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2000" b="1" dirty="0">
                <a:solidFill>
                  <a:srgbClr val="0F172A"/>
                </a:solidFill>
                <a:latin typeface="Arial"/>
                <a:cs typeface="Arial"/>
              </a:rPr>
              <a:t>Team ID – </a:t>
            </a:r>
            <a:r>
              <a:rPr lang="en-US" sz="2000" dirty="0">
                <a:solidFill>
                  <a:srgbClr val="0F172A"/>
                </a:solidFill>
                <a:latin typeface="Arial"/>
                <a:cs typeface="Arial"/>
              </a:rPr>
              <a:t>155882</a:t>
            </a:r>
          </a:p>
          <a:p>
            <a:pPr marL="285750" indent="-285750">
              <a:lnSpc>
                <a:spcPct val="100000"/>
              </a:lnSpc>
              <a:spcBef>
                <a:spcPts val="20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2000" b="1" dirty="0">
                <a:solidFill>
                  <a:srgbClr val="0F172A"/>
                </a:solidFill>
                <a:latin typeface="Arial"/>
                <a:cs typeface="Arial"/>
              </a:rPr>
              <a:t>Team Name – </a:t>
            </a:r>
            <a:r>
              <a:rPr lang="en-US" sz="2000" dirty="0">
                <a:solidFill>
                  <a:srgbClr val="0F172A"/>
                </a:solidFill>
                <a:latin typeface="Arial"/>
                <a:cs typeface="Arial"/>
              </a:rPr>
              <a:t>SPADES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7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65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78000" y="76200"/>
            <a:ext cx="7874000" cy="1041400"/>
          </a:xfr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000" b="1" dirty="0">
                <a:solidFill>
                  <a:srgbClr val="111111"/>
                </a:solidFill>
                <a:latin typeface="Times New Roman"/>
                <a:cs typeface="Times New Roman"/>
              </a:rPr>
              <a:t>PROBLEM STATEMENT &amp;</a:t>
            </a:r>
          </a:p>
          <a:p>
            <a:pPr algn="ctr">
              <a:lnSpc>
                <a:spcPct val="90000"/>
              </a:lnSpc>
            </a:pPr>
            <a:r>
              <a:rPr lang="en-US" sz="3000" b="1" dirty="0">
                <a:solidFill>
                  <a:srgbClr val="111111"/>
                </a:solidFill>
                <a:latin typeface="Times New Roman"/>
                <a:cs typeface="Times New Roman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SPADES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F172A"/>
                </a:solidFill>
              </a:rPr>
              <a:t>SPADES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0" name="DF 300"/>
          <p:cNvSpPr/>
          <p:nvPr/>
        </p:nvSpPr>
        <p:spPr>
          <a:xfrm>
            <a:off x="304800" y="1219200"/>
            <a:ext cx="3886200" cy="76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27000" tIns="63500" rIns="127000" bIns="635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PROBLEM   </a:t>
            </a: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Security deposits and FDRs are tracked in spreadsheets and email, so maturity dates are missed and no one can prove who verified or released what.</a:t>
            </a:r>
          </a:p>
        </p:txBody>
      </p:sp>
      <p:sp>
        <p:nvSpPr>
          <p:cNvPr id="301" name="DF 301"/>
          <p:cNvSpPr/>
          <p:nvPr/>
        </p:nvSpPr>
        <p:spPr>
          <a:xfrm>
            <a:off x="4343400" y="1219200"/>
            <a:ext cx="3886200" cy="76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77800" tIns="63500" rIns="127000" bIns="635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OUR IDEA   </a:t>
            </a: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One secure register that tracks every deposit from receipt to release, with automatic maturity alerts and a tamper-proof audit trail.</a:t>
            </a:r>
          </a:p>
        </p:txBody>
      </p:sp>
      <p:sp>
        <p:nvSpPr>
          <p:cNvPr id="302" name="DF 302"/>
          <p:cNvSpPr/>
          <p:nvPr/>
        </p:nvSpPr>
        <p:spPr>
          <a:xfrm>
            <a:off x="4343400" y="1219200"/>
            <a:ext cx="50800" cy="762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03" name="DF 303"/>
          <p:cNvSpPr/>
          <p:nvPr/>
        </p:nvSpPr>
        <p:spPr>
          <a:xfrm>
            <a:off x="304800" y="2057400"/>
            <a:ext cx="287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CHALLENGES</a:t>
            </a:r>
          </a:p>
        </p:txBody>
      </p:sp>
      <p:sp>
        <p:nvSpPr>
          <p:cNvPr id="304" name="DF 304"/>
          <p:cNvSpPr/>
          <p:nvPr/>
        </p:nvSpPr>
        <p:spPr>
          <a:xfrm>
            <a:off x="3327400" y="20574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PROPOSED SOLUTIONS</a:t>
            </a:r>
          </a:p>
        </p:txBody>
      </p:sp>
      <p:cxnSp>
        <p:nvCxnSpPr>
          <p:cNvPr id="305" name="DF line 305"/>
          <p:cNvCxnSpPr/>
          <p:nvPr/>
        </p:nvCxnSpPr>
        <p:spPr>
          <a:xfrm>
            <a:off x="304800" y="2311400"/>
            <a:ext cx="28702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cxnSp>
        <p:nvCxnSpPr>
          <p:cNvPr id="306" name="DF line 306"/>
          <p:cNvCxnSpPr/>
          <p:nvPr/>
        </p:nvCxnSpPr>
        <p:spPr>
          <a:xfrm>
            <a:off x="3327400" y="2311400"/>
            <a:ext cx="49022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307" name="DF 307"/>
          <p:cNvSpPr/>
          <p:nvPr/>
        </p:nvSpPr>
        <p:spPr>
          <a:xfrm>
            <a:off x="304800" y="237490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Scattered spreadsheet records</a:t>
            </a:r>
          </a:p>
        </p:txBody>
      </p:sp>
      <p:sp>
        <p:nvSpPr>
          <p:cNvPr id="308" name="DF 308"/>
          <p:cNvSpPr/>
          <p:nvPr/>
        </p:nvSpPr>
        <p:spPr>
          <a:xfrm>
            <a:off x="304800" y="237490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09" name="DF 309"/>
          <p:cNvSpPr/>
          <p:nvPr/>
        </p:nvSpPr>
        <p:spPr>
          <a:xfrm rot="5400000">
            <a:off x="3194050" y="248285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10" name="DF 310"/>
          <p:cNvSpPr/>
          <p:nvPr/>
        </p:nvSpPr>
        <p:spPr>
          <a:xfrm>
            <a:off x="3327400" y="237490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Central register of institutions, deposits and FDRs</a:t>
            </a:r>
          </a:p>
        </p:txBody>
      </p:sp>
      <p:sp>
        <p:nvSpPr>
          <p:cNvPr id="311" name="DF 311"/>
          <p:cNvSpPr/>
          <p:nvPr/>
        </p:nvSpPr>
        <p:spPr>
          <a:xfrm>
            <a:off x="3327400" y="237490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12" name="DF 312"/>
          <p:cNvSpPr/>
          <p:nvPr/>
        </p:nvSpPr>
        <p:spPr>
          <a:xfrm>
            <a:off x="304800" y="273558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Missed maturity dates</a:t>
            </a:r>
          </a:p>
        </p:txBody>
      </p:sp>
      <p:sp>
        <p:nvSpPr>
          <p:cNvPr id="313" name="DF 313"/>
          <p:cNvSpPr/>
          <p:nvPr/>
        </p:nvSpPr>
        <p:spPr>
          <a:xfrm>
            <a:off x="304800" y="273558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14" name="DF 314"/>
          <p:cNvSpPr/>
          <p:nvPr/>
        </p:nvSpPr>
        <p:spPr>
          <a:xfrm rot="5400000">
            <a:off x="3194050" y="284353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15" name="DF 315"/>
          <p:cNvSpPr/>
          <p:nvPr/>
        </p:nvSpPr>
        <p:spPr>
          <a:xfrm>
            <a:off x="3327400" y="273558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Rule engine with alerts at 30, 15, 7 and 0 days</a:t>
            </a:r>
          </a:p>
        </p:txBody>
      </p:sp>
      <p:sp>
        <p:nvSpPr>
          <p:cNvPr id="316" name="DF 316"/>
          <p:cNvSpPr/>
          <p:nvPr/>
        </p:nvSpPr>
        <p:spPr>
          <a:xfrm>
            <a:off x="3327400" y="273558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17" name="DF 317"/>
          <p:cNvSpPr/>
          <p:nvPr/>
        </p:nvSpPr>
        <p:spPr>
          <a:xfrm>
            <a:off x="304800" y="309626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Uploaded but unchecked receipts</a:t>
            </a:r>
          </a:p>
        </p:txBody>
      </p:sp>
      <p:sp>
        <p:nvSpPr>
          <p:cNvPr id="318" name="DF 318"/>
          <p:cNvSpPr/>
          <p:nvPr/>
        </p:nvSpPr>
        <p:spPr>
          <a:xfrm>
            <a:off x="304800" y="309626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19" name="DF 319"/>
          <p:cNvSpPr/>
          <p:nvPr/>
        </p:nvSpPr>
        <p:spPr>
          <a:xfrm rot="5400000">
            <a:off x="3194050" y="320421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20" name="DF 320"/>
          <p:cNvSpPr/>
          <p:nvPr/>
        </p:nvSpPr>
        <p:spPr>
          <a:xfrm>
            <a:off x="3327400" y="309626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Verification queue: approve, reject or return with remarks</a:t>
            </a:r>
          </a:p>
        </p:txBody>
      </p:sp>
      <p:sp>
        <p:nvSpPr>
          <p:cNvPr id="321" name="DF 321"/>
          <p:cNvSpPr/>
          <p:nvPr/>
        </p:nvSpPr>
        <p:spPr>
          <a:xfrm>
            <a:off x="3327400" y="309626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22" name="DF 322"/>
          <p:cNvSpPr/>
          <p:nvPr/>
        </p:nvSpPr>
        <p:spPr>
          <a:xfrm>
            <a:off x="304800" y="345694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Amount or date mismatches</a:t>
            </a:r>
          </a:p>
        </p:txBody>
      </p:sp>
      <p:sp>
        <p:nvSpPr>
          <p:cNvPr id="323" name="DF 323"/>
          <p:cNvSpPr/>
          <p:nvPr/>
        </p:nvSpPr>
        <p:spPr>
          <a:xfrm>
            <a:off x="304800" y="345694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24" name="DF 324"/>
          <p:cNvSpPr/>
          <p:nvPr/>
        </p:nvSpPr>
        <p:spPr>
          <a:xfrm rot="5400000">
            <a:off x="3194050" y="356489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25" name="DF 325"/>
          <p:cNvSpPr/>
          <p:nvPr/>
        </p:nvSpPr>
        <p:spPr>
          <a:xfrm>
            <a:off x="3327400" y="345694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Automatic register-versus-document discrepancy check</a:t>
            </a:r>
          </a:p>
        </p:txBody>
      </p:sp>
      <p:sp>
        <p:nvSpPr>
          <p:cNvPr id="326" name="DF 326"/>
          <p:cNvSpPr/>
          <p:nvPr/>
        </p:nvSpPr>
        <p:spPr>
          <a:xfrm>
            <a:off x="3327400" y="345694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27" name="DF 327"/>
          <p:cNvSpPr/>
          <p:nvPr/>
        </p:nvSpPr>
        <p:spPr>
          <a:xfrm>
            <a:off x="304800" y="381762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Renewals overwrite history</a:t>
            </a:r>
          </a:p>
        </p:txBody>
      </p:sp>
      <p:sp>
        <p:nvSpPr>
          <p:cNvPr id="328" name="DF 328"/>
          <p:cNvSpPr/>
          <p:nvPr/>
        </p:nvSpPr>
        <p:spPr>
          <a:xfrm>
            <a:off x="304800" y="381762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29" name="DF 329"/>
          <p:cNvSpPr/>
          <p:nvPr/>
        </p:nvSpPr>
        <p:spPr>
          <a:xfrm rot="5400000">
            <a:off x="3194050" y="392557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30" name="DF 330"/>
          <p:cNvSpPr/>
          <p:nvPr/>
        </p:nvSpPr>
        <p:spPr>
          <a:xfrm>
            <a:off x="3327400" y="381762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Renewal creates a new linked FDR; old record kept</a:t>
            </a:r>
          </a:p>
        </p:txBody>
      </p:sp>
      <p:sp>
        <p:nvSpPr>
          <p:cNvPr id="331" name="DF 331"/>
          <p:cNvSpPr/>
          <p:nvPr/>
        </p:nvSpPr>
        <p:spPr>
          <a:xfrm>
            <a:off x="3327400" y="381762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32" name="DF 332"/>
          <p:cNvSpPr/>
          <p:nvPr/>
        </p:nvSpPr>
        <p:spPr>
          <a:xfrm>
            <a:off x="304800" y="417830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Unclear release approvals</a:t>
            </a:r>
          </a:p>
        </p:txBody>
      </p:sp>
      <p:sp>
        <p:nvSpPr>
          <p:cNvPr id="333" name="DF 333"/>
          <p:cNvSpPr/>
          <p:nvPr/>
        </p:nvSpPr>
        <p:spPr>
          <a:xfrm>
            <a:off x="304800" y="417830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34" name="DF 334"/>
          <p:cNvSpPr/>
          <p:nvPr/>
        </p:nvSpPr>
        <p:spPr>
          <a:xfrm rot="5400000">
            <a:off x="3194050" y="428625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35" name="DF 335"/>
          <p:cNvSpPr/>
          <p:nvPr/>
        </p:nvSpPr>
        <p:spPr>
          <a:xfrm>
            <a:off x="3327400" y="417830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Request, approve and record as separate audited steps</a:t>
            </a:r>
          </a:p>
        </p:txBody>
      </p:sp>
      <p:sp>
        <p:nvSpPr>
          <p:cNvPr id="336" name="DF 336"/>
          <p:cNvSpPr/>
          <p:nvPr/>
        </p:nvSpPr>
        <p:spPr>
          <a:xfrm>
            <a:off x="3327400" y="417830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37" name="DF 337"/>
          <p:cNvSpPr/>
          <p:nvPr/>
        </p:nvSpPr>
        <p:spPr>
          <a:xfrm>
            <a:off x="304800" y="453898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Edited or deleted records</a:t>
            </a:r>
          </a:p>
        </p:txBody>
      </p:sp>
      <p:sp>
        <p:nvSpPr>
          <p:cNvPr id="338" name="DF 338"/>
          <p:cNvSpPr/>
          <p:nvPr/>
        </p:nvSpPr>
        <p:spPr>
          <a:xfrm>
            <a:off x="304800" y="453898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39" name="DF 339"/>
          <p:cNvSpPr/>
          <p:nvPr/>
        </p:nvSpPr>
        <p:spPr>
          <a:xfrm rot="5400000">
            <a:off x="3194050" y="464693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40" name="DF 340"/>
          <p:cNvSpPr/>
          <p:nvPr/>
        </p:nvSpPr>
        <p:spPr>
          <a:xfrm>
            <a:off x="3327400" y="453898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Append-only audit trail enforced by the database</a:t>
            </a:r>
          </a:p>
        </p:txBody>
      </p:sp>
      <p:sp>
        <p:nvSpPr>
          <p:cNvPr id="341" name="DF 341"/>
          <p:cNvSpPr/>
          <p:nvPr/>
        </p:nvSpPr>
        <p:spPr>
          <a:xfrm>
            <a:off x="3327400" y="453898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42" name="DF 342"/>
          <p:cNvSpPr/>
          <p:nvPr/>
        </p:nvSpPr>
        <p:spPr>
          <a:xfrm>
            <a:off x="304800" y="489966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Wrong people seeing data</a:t>
            </a:r>
          </a:p>
        </p:txBody>
      </p:sp>
      <p:sp>
        <p:nvSpPr>
          <p:cNvPr id="343" name="DF 343"/>
          <p:cNvSpPr/>
          <p:nvPr/>
        </p:nvSpPr>
        <p:spPr>
          <a:xfrm>
            <a:off x="304800" y="489966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44" name="DF 344"/>
          <p:cNvSpPr/>
          <p:nvPr/>
        </p:nvSpPr>
        <p:spPr>
          <a:xfrm rot="5400000">
            <a:off x="3194050" y="500761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45" name="DF 345"/>
          <p:cNvSpPr/>
          <p:nvPr/>
        </p:nvSpPr>
        <p:spPr>
          <a:xfrm>
            <a:off x="3327400" y="489966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Five roles; institutions see only their own records</a:t>
            </a:r>
          </a:p>
        </p:txBody>
      </p:sp>
      <p:sp>
        <p:nvSpPr>
          <p:cNvPr id="346" name="DF 346"/>
          <p:cNvSpPr/>
          <p:nvPr/>
        </p:nvSpPr>
        <p:spPr>
          <a:xfrm>
            <a:off x="3327400" y="489966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47" name="DF 347"/>
          <p:cNvSpPr/>
          <p:nvPr/>
        </p:nvSpPr>
        <p:spPr>
          <a:xfrm>
            <a:off x="304800" y="5260340"/>
            <a:ext cx="2870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556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No overview for officers</a:t>
            </a:r>
          </a:p>
        </p:txBody>
      </p:sp>
      <p:sp>
        <p:nvSpPr>
          <p:cNvPr id="348" name="DF 348"/>
          <p:cNvSpPr/>
          <p:nvPr/>
        </p:nvSpPr>
        <p:spPr>
          <a:xfrm>
            <a:off x="304800" y="5260340"/>
            <a:ext cx="38100" cy="317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49" name="DF 349"/>
          <p:cNvSpPr/>
          <p:nvPr/>
        </p:nvSpPr>
        <p:spPr>
          <a:xfrm rot="5400000">
            <a:off x="3194050" y="536829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50" name="DF 350"/>
          <p:cNvSpPr/>
          <p:nvPr/>
        </p:nvSpPr>
        <p:spPr>
          <a:xfrm>
            <a:off x="3327400" y="5260340"/>
            <a:ext cx="4902200" cy="31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Live dashboard, calendar and seven exportable reports</a:t>
            </a:r>
          </a:p>
        </p:txBody>
      </p:sp>
      <p:sp>
        <p:nvSpPr>
          <p:cNvPr id="351" name="DF 351"/>
          <p:cNvSpPr/>
          <p:nvPr/>
        </p:nvSpPr>
        <p:spPr>
          <a:xfrm>
            <a:off x="3327400" y="5260340"/>
            <a:ext cx="38100" cy="317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52" name="Browser frame"/>
          <p:cNvSpPr/>
          <p:nvPr/>
        </p:nvSpPr>
        <p:spPr>
          <a:xfrm>
            <a:off x="8432800" y="1219200"/>
            <a:ext cx="3454400" cy="24511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53" name="DF 353"/>
          <p:cNvSpPr/>
          <p:nvPr/>
        </p:nvSpPr>
        <p:spPr>
          <a:xfrm>
            <a:off x="8432800" y="1219200"/>
            <a:ext cx="3454400" cy="20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54" name="DF 354"/>
          <p:cNvSpPr/>
          <p:nvPr/>
        </p:nvSpPr>
        <p:spPr>
          <a:xfrm>
            <a:off x="8509000" y="1289050"/>
            <a:ext cx="63500" cy="635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55" name="DF 355"/>
          <p:cNvSpPr/>
          <p:nvPr/>
        </p:nvSpPr>
        <p:spPr>
          <a:xfrm>
            <a:off x="8610600" y="1289050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56" name="DF 356"/>
          <p:cNvSpPr/>
          <p:nvPr/>
        </p:nvSpPr>
        <p:spPr>
          <a:xfrm>
            <a:off x="8712200" y="1289050"/>
            <a:ext cx="63500" cy="635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57" name="DF 357"/>
          <p:cNvSpPr/>
          <p:nvPr/>
        </p:nvSpPr>
        <p:spPr>
          <a:xfrm>
            <a:off x="8890000" y="1257300"/>
            <a:ext cx="2540000" cy="12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68" name="Key innovation bar"/>
          <p:cNvSpPr/>
          <p:nvPr/>
        </p:nvSpPr>
        <p:spPr>
          <a:xfrm>
            <a:off x="304800" y="5715000"/>
            <a:ext cx="11582400" cy="533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369" name="DF 369"/>
          <p:cNvSpPr/>
          <p:nvPr/>
        </p:nvSpPr>
        <p:spPr>
          <a:xfrm>
            <a:off x="787400" y="5715000"/>
            <a:ext cx="1422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KEY INNOVATION</a:t>
            </a:r>
          </a:p>
        </p:txBody>
      </p:sp>
      <p:cxnSp>
        <p:nvCxnSpPr>
          <p:cNvPr id="370" name="DF line 370"/>
          <p:cNvCxnSpPr/>
          <p:nvPr/>
        </p:nvCxnSpPr>
        <p:spPr>
          <a:xfrm>
            <a:off x="2260600" y="5816600"/>
            <a:ext cx="0" cy="330200"/>
          </a:xfrm>
          <a:prstGeom prst="line">
            <a:avLst/>
          </a:prstGeom>
          <a:ln w="9525">
            <a:solidFill>
              <a:srgbClr val="60A5FA"/>
            </a:solidFill>
          </a:ln>
        </p:spPr>
      </p:cxnSp>
      <p:sp>
        <p:nvSpPr>
          <p:cNvPr id="371" name="DF 371"/>
          <p:cNvSpPr/>
          <p:nvPr/>
        </p:nvSpPr>
        <p:spPr>
          <a:xfrm>
            <a:off x="2387600" y="5715000"/>
            <a:ext cx="299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508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60A5FA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Computed maturity status (not typed)</a:t>
            </a:r>
          </a:p>
        </p:txBody>
      </p:sp>
      <p:sp>
        <p:nvSpPr>
          <p:cNvPr id="372" name="DF 372"/>
          <p:cNvSpPr/>
          <p:nvPr/>
        </p:nvSpPr>
        <p:spPr>
          <a:xfrm>
            <a:off x="5410200" y="5715000"/>
            <a:ext cx="2590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508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60A5FA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Duplicate-proof scheduled alerts</a:t>
            </a:r>
          </a:p>
        </p:txBody>
      </p:sp>
      <p:sp>
        <p:nvSpPr>
          <p:cNvPr id="373" name="DF 373"/>
          <p:cNvSpPr/>
          <p:nvPr/>
        </p:nvSpPr>
        <p:spPr>
          <a:xfrm>
            <a:off x="8026400" y="5715000"/>
            <a:ext cx="1854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508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60A5FA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Discrepancy detection</a:t>
            </a:r>
          </a:p>
        </p:txBody>
      </p:sp>
      <p:sp>
        <p:nvSpPr>
          <p:cNvPr id="374" name="DF 374"/>
          <p:cNvSpPr/>
          <p:nvPr/>
        </p:nvSpPr>
        <p:spPr>
          <a:xfrm>
            <a:off x="9906000" y="5715000"/>
            <a:ext cx="1905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50800" bIns="0" rtlCol="0" anchor="ctr">
            <a:noAutofit/>
          </a:bodyPr>
          <a:lstStyle/>
          <a:p>
            <a:pPr marL="133350" indent="-133350" algn="l">
              <a:spcBef>
                <a:spcPts val="0"/>
              </a:spcBef>
              <a:buClr>
                <a:srgbClr val="60A5FA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Append-only audit trail</a:t>
            </a:r>
          </a:p>
        </p:txBody>
      </p:sp>
      <p:pic>
        <p:nvPicPr>
          <p:cNvPr id="15362" name="Graphic 15362" descr="Spreadshe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400" y="2432050"/>
            <a:ext cx="203200" cy="203200"/>
          </a:xfrm>
          <a:prstGeom prst="rect">
            <a:avLst/>
          </a:prstGeom>
        </p:spPr>
      </p:pic>
      <p:pic>
        <p:nvPicPr>
          <p:cNvPr id="15363" name="Graphic 15363" descr="Calend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400" y="2792730"/>
            <a:ext cx="203200" cy="203200"/>
          </a:xfrm>
          <a:prstGeom prst="rect">
            <a:avLst/>
          </a:prstGeom>
        </p:spPr>
      </p:pic>
      <p:pic>
        <p:nvPicPr>
          <p:cNvPr id="15364" name="Graphic 15364" descr="Receip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400" y="3153410"/>
            <a:ext cx="203200" cy="203200"/>
          </a:xfrm>
          <a:prstGeom prst="rect">
            <a:avLst/>
          </a:prstGeom>
        </p:spPr>
      </p:pic>
      <p:pic>
        <p:nvPicPr>
          <p:cNvPr id="15365" name="Graphic 15365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400" y="3514090"/>
            <a:ext cx="203200" cy="203200"/>
          </a:xfrm>
          <a:prstGeom prst="rect">
            <a:avLst/>
          </a:prstGeom>
        </p:spPr>
      </p:pic>
      <p:pic>
        <p:nvPicPr>
          <p:cNvPr id="15366" name="Graphic 15366" descr="Renew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6400" y="3874770"/>
            <a:ext cx="203200" cy="203200"/>
          </a:xfrm>
          <a:prstGeom prst="rect">
            <a:avLst/>
          </a:prstGeom>
        </p:spPr>
      </p:pic>
      <p:pic>
        <p:nvPicPr>
          <p:cNvPr id="15367" name="Graphic 15367" descr="Approv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400" y="4235450"/>
            <a:ext cx="203200" cy="203200"/>
          </a:xfrm>
          <a:prstGeom prst="rect">
            <a:avLst/>
          </a:prstGeom>
        </p:spPr>
      </p:pic>
      <p:pic>
        <p:nvPicPr>
          <p:cNvPr id="15368" name="Graphic 15368" descr="L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6400" y="4596130"/>
            <a:ext cx="203200" cy="203200"/>
          </a:xfrm>
          <a:prstGeom prst="rect">
            <a:avLst/>
          </a:prstGeom>
        </p:spPr>
      </p:pic>
      <p:pic>
        <p:nvPicPr>
          <p:cNvPr id="15369" name="Graphic 15369" descr="Us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6400" y="4956810"/>
            <a:ext cx="203200" cy="203200"/>
          </a:xfrm>
          <a:prstGeom prst="rect">
            <a:avLst/>
          </a:prstGeom>
        </p:spPr>
      </p:pic>
      <p:pic>
        <p:nvPicPr>
          <p:cNvPr id="15370" name="Graphic 15370" descr="Dashbo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6400" y="5317490"/>
            <a:ext cx="203200" cy="203200"/>
          </a:xfrm>
          <a:prstGeom prst="rect">
            <a:avLst/>
          </a:prstGeom>
        </p:spPr>
      </p:pic>
      <p:pic>
        <p:nvPicPr>
          <p:cNvPr id="15371" name="Graphic 15371" descr="Key innov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1800" y="5829300"/>
            <a:ext cx="304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A54E44-1D8E-D21E-9326-52667CF852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3600" y="1473200"/>
            <a:ext cx="3352800" cy="2095500"/>
          </a:xfrm>
          <a:prstGeom prst="rect">
            <a:avLst/>
          </a:prstGeom>
        </p:spPr>
      </p:pic>
      <p:sp>
        <p:nvSpPr>
          <p:cNvPr id="400" name="Marker 1"/>
          <p:cNvSpPr/>
          <p:nvPr/>
        </p:nvSpPr>
        <p:spPr>
          <a:xfrm>
            <a:off x="8991600" y="1549400"/>
            <a:ext cx="203200" cy="20320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01" name="Marker 2"/>
          <p:cNvSpPr/>
          <p:nvPr/>
        </p:nvSpPr>
        <p:spPr>
          <a:xfrm>
            <a:off x="8991600" y="2603500"/>
            <a:ext cx="203200" cy="20320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02" name="Marker 3"/>
          <p:cNvSpPr/>
          <p:nvPr/>
        </p:nvSpPr>
        <p:spPr>
          <a:xfrm>
            <a:off x="10782300" y="2603500"/>
            <a:ext cx="203200" cy="20320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03" name="Callout 1"/>
          <p:cNvSpPr/>
          <p:nvPr/>
        </p:nvSpPr>
        <p:spPr>
          <a:xfrm>
            <a:off x="8432800" y="3784600"/>
            <a:ext cx="3454400" cy="53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404" name="DF 404"/>
          <p:cNvSpPr/>
          <p:nvPr/>
        </p:nvSpPr>
        <p:spPr>
          <a:xfrm>
            <a:off x="8432800" y="3784600"/>
            <a:ext cx="38100" cy="533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405" name="DF 405"/>
          <p:cNvSpPr/>
          <p:nvPr/>
        </p:nvSpPr>
        <p:spPr>
          <a:xfrm>
            <a:off x="8585200" y="393700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06" name="DF 406"/>
          <p:cNvSpPr/>
          <p:nvPr/>
        </p:nvSpPr>
        <p:spPr>
          <a:xfrm>
            <a:off x="8915400" y="38227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1D4ED8"/>
                </a:solidFill>
                <a:latin typeface="Calibri"/>
                <a:cs typeface="Calibri"/>
              </a:rPr>
              <a:t>Today band</a:t>
            </a:r>
          </a:p>
        </p:txBody>
      </p:sp>
      <p:sp>
        <p:nvSpPr>
          <p:cNvPr id="407" name="DF 407"/>
          <p:cNvSpPr/>
          <p:nvPr/>
        </p:nvSpPr>
        <p:spPr>
          <a:xfrm>
            <a:off x="8915400" y="4051300"/>
            <a:ext cx="28956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What matures this week, at a glance</a:t>
            </a:r>
          </a:p>
        </p:txBody>
      </p:sp>
      <p:sp>
        <p:nvSpPr>
          <p:cNvPr id="408" name="Callout 2"/>
          <p:cNvSpPr/>
          <p:nvPr/>
        </p:nvSpPr>
        <p:spPr>
          <a:xfrm>
            <a:off x="8432800" y="4394200"/>
            <a:ext cx="3454400" cy="53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409" name="DF 409"/>
          <p:cNvSpPr/>
          <p:nvPr/>
        </p:nvSpPr>
        <p:spPr>
          <a:xfrm>
            <a:off x="8432800" y="4394200"/>
            <a:ext cx="38100" cy="533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410" name="DF 410"/>
          <p:cNvSpPr/>
          <p:nvPr/>
        </p:nvSpPr>
        <p:spPr>
          <a:xfrm>
            <a:off x="8585200" y="454660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11" name="DF 411"/>
          <p:cNvSpPr/>
          <p:nvPr/>
        </p:nvSpPr>
        <p:spPr>
          <a:xfrm>
            <a:off x="8915400" y="44323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1D4ED8"/>
                </a:solidFill>
                <a:latin typeface="Calibri"/>
                <a:cs typeface="Calibri"/>
              </a:rPr>
              <a:t>Maturity watchlist</a:t>
            </a:r>
          </a:p>
        </p:txBody>
      </p:sp>
      <p:sp>
        <p:nvSpPr>
          <p:cNvPr id="412" name="DF 412"/>
          <p:cNvSpPr/>
          <p:nvPr/>
        </p:nvSpPr>
        <p:spPr>
          <a:xfrm>
            <a:off x="8915400" y="4660900"/>
            <a:ext cx="28956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Next 45 days plus overdue FDRs</a:t>
            </a:r>
          </a:p>
        </p:txBody>
      </p:sp>
      <p:sp>
        <p:nvSpPr>
          <p:cNvPr id="413" name="Callout 3"/>
          <p:cNvSpPr/>
          <p:nvPr/>
        </p:nvSpPr>
        <p:spPr>
          <a:xfrm>
            <a:off x="8432800" y="5003800"/>
            <a:ext cx="3454400" cy="53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414" name="DF 414"/>
          <p:cNvSpPr/>
          <p:nvPr/>
        </p:nvSpPr>
        <p:spPr>
          <a:xfrm>
            <a:off x="8432800" y="5003800"/>
            <a:ext cx="38100" cy="533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415" name="DF 415"/>
          <p:cNvSpPr/>
          <p:nvPr/>
        </p:nvSpPr>
        <p:spPr>
          <a:xfrm>
            <a:off x="8585200" y="515620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16" name="DF 416"/>
          <p:cNvSpPr/>
          <p:nvPr/>
        </p:nvSpPr>
        <p:spPr>
          <a:xfrm>
            <a:off x="8915400" y="50419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1D4ED8"/>
                </a:solidFill>
                <a:latin typeface="Calibri"/>
                <a:cs typeface="Calibri"/>
              </a:rPr>
              <a:t>Needs attention</a:t>
            </a:r>
          </a:p>
        </p:txBody>
      </p:sp>
      <p:sp>
        <p:nvSpPr>
          <p:cNvPr id="417" name="DF 417"/>
          <p:cNvSpPr/>
          <p:nvPr/>
        </p:nvSpPr>
        <p:spPr>
          <a:xfrm>
            <a:off x="8915400" y="5270500"/>
            <a:ext cx="28956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Critical alerts ranked first</a:t>
            </a:r>
          </a:p>
        </p:txBody>
      </p:sp>
    </p:spTree>
    <p:extLst>
      <p:ext uri="{BB962C8B-B14F-4D97-AF65-F5344CB8AC3E}">
        <p14:creationId xmlns:p14="http://schemas.microsoft.com/office/powerpoint/2010/main" val="3793356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65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rgbClr val="111111"/>
                </a:solidFill>
                <a:latin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SPADES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F172A"/>
                </a:solidFill>
              </a:rPr>
              <a:t>SPADES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0" name="DF 500"/>
          <p:cNvSpPr/>
          <p:nvPr/>
        </p:nvSpPr>
        <p:spPr>
          <a:xfrm>
            <a:off x="304800" y="1143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D4ED8"/>
                </a:solidFill>
                <a:latin typeface="Calibri"/>
                <a:cs typeface="Calibri"/>
              </a:rPr>
              <a:t>SYSTEM WORKFLOW</a:t>
            </a:r>
          </a:p>
        </p:txBody>
      </p:sp>
      <p:cxnSp>
        <p:nvCxnSpPr>
          <p:cNvPr id="501" name="DF line 501"/>
          <p:cNvCxnSpPr/>
          <p:nvPr/>
        </p:nvCxnSpPr>
        <p:spPr>
          <a:xfrm>
            <a:off x="304800" y="1397000"/>
            <a:ext cx="115824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502" name="DF 502"/>
          <p:cNvSpPr/>
          <p:nvPr/>
        </p:nvSpPr>
        <p:spPr>
          <a:xfrm>
            <a:off x="7493000" y="1193800"/>
            <a:ext cx="127000" cy="1270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03" name="DF 503"/>
          <p:cNvSpPr/>
          <p:nvPr/>
        </p:nvSpPr>
        <p:spPr>
          <a:xfrm>
            <a:off x="7670800" y="11557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Institution input</a:t>
            </a:r>
          </a:p>
        </p:txBody>
      </p:sp>
      <p:sp>
        <p:nvSpPr>
          <p:cNvPr id="504" name="DF 504"/>
          <p:cNvSpPr/>
          <p:nvPr/>
        </p:nvSpPr>
        <p:spPr>
          <a:xfrm>
            <a:off x="8788400" y="1193800"/>
            <a:ext cx="127000" cy="1270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05" name="DF 505"/>
          <p:cNvSpPr/>
          <p:nvPr/>
        </p:nvSpPr>
        <p:spPr>
          <a:xfrm>
            <a:off x="8966200" y="1155700"/>
            <a:ext cx="137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Verification &amp; rules</a:t>
            </a:r>
          </a:p>
        </p:txBody>
      </p:sp>
      <p:sp>
        <p:nvSpPr>
          <p:cNvPr id="506" name="DF 506"/>
          <p:cNvSpPr/>
          <p:nvPr/>
        </p:nvSpPr>
        <p:spPr>
          <a:xfrm>
            <a:off x="10312400" y="1193800"/>
            <a:ext cx="127000" cy="127000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07" name="DF 507"/>
          <p:cNvSpPr/>
          <p:nvPr/>
        </p:nvSpPr>
        <p:spPr>
          <a:xfrm>
            <a:off x="10490200" y="11557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Officer &amp; audit</a:t>
            </a:r>
          </a:p>
        </p:txBody>
      </p:sp>
      <p:sp>
        <p:nvSpPr>
          <p:cNvPr id="508" name="Step 01"/>
          <p:cNvSpPr/>
          <p:nvPr/>
        </p:nvSpPr>
        <p:spPr>
          <a:xfrm>
            <a:off x="304800" y="1473200"/>
            <a:ext cx="1473200" cy="533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01  </a:t>
            </a:r>
            <a:r>
              <a:rPr lang="en-US" sz="1150" b="1" dirty="0">
                <a:solidFill>
                  <a:srgbClr val="1F3864"/>
                </a:solidFill>
                <a:latin typeface="Calibri"/>
                <a:cs typeface="Calibri"/>
              </a:rPr>
              <a:t>Institution signs in</a:t>
            </a:r>
          </a:p>
        </p:txBody>
      </p:sp>
      <p:sp>
        <p:nvSpPr>
          <p:cNvPr id="509" name="DF 509"/>
          <p:cNvSpPr/>
          <p:nvPr/>
        </p:nvSpPr>
        <p:spPr>
          <a:xfrm rot="5400000">
            <a:off x="1828800" y="16891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10" name="Step 02"/>
          <p:cNvSpPr/>
          <p:nvPr/>
        </p:nvSpPr>
        <p:spPr>
          <a:xfrm>
            <a:off x="1981200" y="1473200"/>
            <a:ext cx="1473200" cy="533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02  </a:t>
            </a:r>
            <a:r>
              <a:rPr lang="en-US" sz="1150" b="1" dirty="0">
                <a:solidFill>
                  <a:srgbClr val="1F3864"/>
                </a:solidFill>
                <a:latin typeface="Calibri"/>
                <a:cs typeface="Calibri"/>
              </a:rPr>
              <a:t>Deposit + FDR registered</a:t>
            </a:r>
          </a:p>
        </p:txBody>
      </p:sp>
      <p:sp>
        <p:nvSpPr>
          <p:cNvPr id="511" name="DF 511"/>
          <p:cNvSpPr/>
          <p:nvPr/>
        </p:nvSpPr>
        <p:spPr>
          <a:xfrm rot="5400000">
            <a:off x="3505200" y="16891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12" name="Step 03"/>
          <p:cNvSpPr/>
          <p:nvPr/>
        </p:nvSpPr>
        <p:spPr>
          <a:xfrm>
            <a:off x="3657600" y="1473200"/>
            <a:ext cx="1473200" cy="533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03  </a:t>
            </a:r>
            <a:r>
              <a:rPr lang="en-US" sz="1150" b="1" dirty="0">
                <a:solidFill>
                  <a:srgbClr val="1F3864"/>
                </a:solidFill>
                <a:latin typeface="Calibri"/>
                <a:cs typeface="Calibri"/>
              </a:rPr>
              <a:t>Receipt uploaded</a:t>
            </a:r>
          </a:p>
        </p:txBody>
      </p:sp>
      <p:sp>
        <p:nvSpPr>
          <p:cNvPr id="513" name="DF 513"/>
          <p:cNvSpPr/>
          <p:nvPr/>
        </p:nvSpPr>
        <p:spPr>
          <a:xfrm rot="5400000">
            <a:off x="5181600" y="16891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14" name="Step 04"/>
          <p:cNvSpPr/>
          <p:nvPr/>
        </p:nvSpPr>
        <p:spPr>
          <a:xfrm>
            <a:off x="5334000" y="1473200"/>
            <a:ext cx="1473200" cy="533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F3864"/>
            </a:solidFill>
            <a:prstDash val="dash"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04  </a:t>
            </a:r>
            <a:r>
              <a:rPr lang="en-US" sz="1150" b="1" dirty="0">
                <a:solidFill>
                  <a:srgbClr val="1F3864"/>
                </a:solidFill>
                <a:latin typeface="Calibri"/>
                <a:cs typeface="Calibri"/>
              </a:rPr>
              <a:t>File type checked from bytes</a:t>
            </a:r>
          </a:p>
        </p:txBody>
      </p:sp>
      <p:sp>
        <p:nvSpPr>
          <p:cNvPr id="515" name="DF 515"/>
          <p:cNvSpPr/>
          <p:nvPr/>
        </p:nvSpPr>
        <p:spPr>
          <a:xfrm rot="5400000">
            <a:off x="6858000" y="16891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16" name="Step 05"/>
          <p:cNvSpPr/>
          <p:nvPr/>
        </p:nvSpPr>
        <p:spPr>
          <a:xfrm>
            <a:off x="7010400" y="1473200"/>
            <a:ext cx="1473200" cy="533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05  </a:t>
            </a:r>
            <a:r>
              <a:rPr lang="en-US" sz="1150" b="1" dirty="0">
                <a:solidFill>
                  <a:srgbClr val="1F3864"/>
                </a:solidFill>
                <a:latin typeface="Calibri"/>
                <a:cs typeface="Calibri"/>
              </a:rPr>
              <a:t>Stored privately</a:t>
            </a:r>
          </a:p>
        </p:txBody>
      </p:sp>
      <p:sp>
        <p:nvSpPr>
          <p:cNvPr id="517" name="DF 517"/>
          <p:cNvSpPr/>
          <p:nvPr/>
        </p:nvSpPr>
        <p:spPr>
          <a:xfrm rot="5400000">
            <a:off x="8534400" y="16891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18" name="Step 06"/>
          <p:cNvSpPr/>
          <p:nvPr/>
        </p:nvSpPr>
        <p:spPr>
          <a:xfrm>
            <a:off x="8686800" y="1473200"/>
            <a:ext cx="1473200" cy="5334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06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Verification queue</a:t>
            </a:r>
          </a:p>
        </p:txBody>
      </p:sp>
      <p:sp>
        <p:nvSpPr>
          <p:cNvPr id="519" name="DF 519"/>
          <p:cNvSpPr/>
          <p:nvPr/>
        </p:nvSpPr>
        <p:spPr>
          <a:xfrm rot="5400000">
            <a:off x="10210800" y="16891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20" name="Step 07"/>
          <p:cNvSpPr/>
          <p:nvPr/>
        </p:nvSpPr>
        <p:spPr>
          <a:xfrm>
            <a:off x="10363200" y="1473200"/>
            <a:ext cx="1473200" cy="5334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07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Officer decision</a:t>
            </a:r>
          </a:p>
        </p:txBody>
      </p:sp>
      <p:sp>
        <p:nvSpPr>
          <p:cNvPr id="521" name="Step 08"/>
          <p:cNvSpPr/>
          <p:nvPr/>
        </p:nvSpPr>
        <p:spPr>
          <a:xfrm>
            <a:off x="304800" y="2209800"/>
            <a:ext cx="1473200" cy="5334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08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Discrepancy check</a:t>
            </a:r>
          </a:p>
        </p:txBody>
      </p:sp>
      <p:sp>
        <p:nvSpPr>
          <p:cNvPr id="522" name="DF 522"/>
          <p:cNvSpPr/>
          <p:nvPr/>
        </p:nvSpPr>
        <p:spPr>
          <a:xfrm rot="5400000">
            <a:off x="1828800" y="24257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23" name="Step 09"/>
          <p:cNvSpPr/>
          <p:nvPr/>
        </p:nvSpPr>
        <p:spPr>
          <a:xfrm>
            <a:off x="1981200" y="2209800"/>
            <a:ext cx="1473200" cy="5334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09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Maturity computed daily</a:t>
            </a:r>
          </a:p>
        </p:txBody>
      </p:sp>
      <p:sp>
        <p:nvSpPr>
          <p:cNvPr id="524" name="DF 524"/>
          <p:cNvSpPr/>
          <p:nvPr/>
        </p:nvSpPr>
        <p:spPr>
          <a:xfrm rot="5400000">
            <a:off x="3505200" y="24257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25" name="Step 10"/>
          <p:cNvSpPr/>
          <p:nvPr/>
        </p:nvSpPr>
        <p:spPr>
          <a:xfrm>
            <a:off x="3657600" y="2209800"/>
            <a:ext cx="1473200" cy="5334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10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Scheduled alert rules</a:t>
            </a:r>
          </a:p>
        </p:txBody>
      </p:sp>
      <p:sp>
        <p:nvSpPr>
          <p:cNvPr id="526" name="DF 526"/>
          <p:cNvSpPr/>
          <p:nvPr/>
        </p:nvSpPr>
        <p:spPr>
          <a:xfrm rot="5400000">
            <a:off x="5181600" y="24257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27" name="Step 11"/>
          <p:cNvSpPr/>
          <p:nvPr/>
        </p:nvSpPr>
        <p:spPr>
          <a:xfrm>
            <a:off x="5334000" y="2209800"/>
            <a:ext cx="1473200" cy="533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11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Notifications &amp; escalation</a:t>
            </a:r>
          </a:p>
        </p:txBody>
      </p:sp>
      <p:sp>
        <p:nvSpPr>
          <p:cNvPr id="528" name="DF 528"/>
          <p:cNvSpPr/>
          <p:nvPr/>
        </p:nvSpPr>
        <p:spPr>
          <a:xfrm rot="5400000">
            <a:off x="6858000" y="24257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29" name="Step 12"/>
          <p:cNvSpPr/>
          <p:nvPr/>
        </p:nvSpPr>
        <p:spPr>
          <a:xfrm>
            <a:off x="7010400" y="2209800"/>
            <a:ext cx="1473200" cy="533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12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Release request &amp; approval</a:t>
            </a:r>
          </a:p>
        </p:txBody>
      </p:sp>
      <p:sp>
        <p:nvSpPr>
          <p:cNvPr id="530" name="DF 530"/>
          <p:cNvSpPr/>
          <p:nvPr/>
        </p:nvSpPr>
        <p:spPr>
          <a:xfrm rot="5400000">
            <a:off x="8534400" y="24257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31" name="Step 13"/>
          <p:cNvSpPr/>
          <p:nvPr/>
        </p:nvSpPr>
        <p:spPr>
          <a:xfrm>
            <a:off x="8686800" y="2209800"/>
            <a:ext cx="1473200" cy="533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13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Outcome recorded</a:t>
            </a:r>
          </a:p>
        </p:txBody>
      </p:sp>
      <p:sp>
        <p:nvSpPr>
          <p:cNvPr id="532" name="DF 532"/>
          <p:cNvSpPr/>
          <p:nvPr/>
        </p:nvSpPr>
        <p:spPr>
          <a:xfrm rot="5400000">
            <a:off x="10210800" y="2425700"/>
            <a:ext cx="101600" cy="1016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33" name="Step 14"/>
          <p:cNvSpPr/>
          <p:nvPr/>
        </p:nvSpPr>
        <p:spPr>
          <a:xfrm>
            <a:off x="10363200" y="2209800"/>
            <a:ext cx="1473200" cy="533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88900" tIns="25400" rIns="76200" bIns="2540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14  </a:t>
            </a:r>
            <a:r>
              <a:rPr lang="en-US" sz="1150" b="1" dirty="0">
                <a:solidFill>
                  <a:srgbClr val="FFFFFF"/>
                </a:solidFill>
                <a:latin typeface="Calibri"/>
                <a:cs typeface="Calibri"/>
              </a:rPr>
              <a:t>Audit trail &amp; reports</a:t>
            </a:r>
          </a:p>
        </p:txBody>
      </p:sp>
      <p:cxnSp>
        <p:nvCxnSpPr>
          <p:cNvPr id="534" name="DF line 534"/>
          <p:cNvCxnSpPr/>
          <p:nvPr/>
        </p:nvCxnSpPr>
        <p:spPr>
          <a:xfrm>
            <a:off x="11099800" y="2006600"/>
            <a:ext cx="0" cy="101600"/>
          </a:xfrm>
          <a:prstGeom prst="line">
            <a:avLst/>
          </a:prstGeom>
          <a:ln w="12700">
            <a:solidFill>
              <a:srgbClr val="1D4ED8"/>
            </a:solidFill>
          </a:ln>
        </p:spPr>
      </p:cxnSp>
      <p:cxnSp>
        <p:nvCxnSpPr>
          <p:cNvPr id="535" name="DF line 535"/>
          <p:cNvCxnSpPr/>
          <p:nvPr/>
        </p:nvCxnSpPr>
        <p:spPr>
          <a:xfrm flipH="1">
            <a:off x="1041400" y="2108200"/>
            <a:ext cx="10058400" cy="0"/>
          </a:xfrm>
          <a:prstGeom prst="line">
            <a:avLst/>
          </a:prstGeom>
          <a:ln w="12700">
            <a:solidFill>
              <a:srgbClr val="1D4ED8"/>
            </a:solidFill>
          </a:ln>
        </p:spPr>
      </p:cxnSp>
      <p:cxnSp>
        <p:nvCxnSpPr>
          <p:cNvPr id="536" name="DF line 536"/>
          <p:cNvCxnSpPr/>
          <p:nvPr/>
        </p:nvCxnSpPr>
        <p:spPr>
          <a:xfrm>
            <a:off x="1041400" y="2108200"/>
            <a:ext cx="0" cy="101600"/>
          </a:xfrm>
          <a:prstGeom prst="line">
            <a:avLst/>
          </a:prstGeom>
          <a:ln w="12700">
            <a:solidFill>
              <a:srgbClr val="1D4ED8"/>
            </a:solidFill>
            <a:tailEnd type="triangle" w="sm" len="sm"/>
          </a:ln>
        </p:spPr>
      </p:cxnSp>
      <p:sp>
        <p:nvSpPr>
          <p:cNvPr id="537" name="DF 537"/>
          <p:cNvSpPr/>
          <p:nvPr/>
        </p:nvSpPr>
        <p:spPr>
          <a:xfrm>
            <a:off x="304800" y="2870200"/>
            <a:ext cx="3708400" cy="2260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38" name="DF 538"/>
          <p:cNvSpPr/>
          <p:nvPr/>
        </p:nvSpPr>
        <p:spPr>
          <a:xfrm>
            <a:off x="304800" y="2870200"/>
            <a:ext cx="50800" cy="226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39" name="DF 539"/>
          <p:cNvSpPr/>
          <p:nvPr/>
        </p:nvSpPr>
        <p:spPr>
          <a:xfrm>
            <a:off x="482600" y="29464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D4ED8"/>
                </a:solidFill>
                <a:latin typeface="Calibri"/>
                <a:cs typeface="Calibri"/>
              </a:rPr>
              <a:t>TECH STACK</a:t>
            </a:r>
          </a:p>
        </p:txBody>
      </p:sp>
      <p:cxnSp>
        <p:nvCxnSpPr>
          <p:cNvPr id="540" name="DF line 540"/>
          <p:cNvCxnSpPr/>
          <p:nvPr/>
        </p:nvCxnSpPr>
        <p:spPr>
          <a:xfrm>
            <a:off x="482600" y="3238500"/>
            <a:ext cx="3352800" cy="0"/>
          </a:xfrm>
          <a:prstGeom prst="line">
            <a:avLst/>
          </a:prstGeom>
          <a:ln w="9525">
            <a:solidFill>
              <a:srgbClr val="93C5FD"/>
            </a:solidFill>
          </a:ln>
        </p:spPr>
      </p:cxnSp>
      <p:sp>
        <p:nvSpPr>
          <p:cNvPr id="541" name="DF 541"/>
          <p:cNvSpPr/>
          <p:nvPr/>
        </p:nvSpPr>
        <p:spPr>
          <a:xfrm>
            <a:off x="482600" y="3327400"/>
            <a:ext cx="3429000" cy="172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95000"/>
              </a:lnSpc>
              <a:spcBef>
                <a:spcPts val="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Next.js 16 + React 19 (TypeScript)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PostgreSQL (Neon free tier) / PGlite locally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Tailwind CSS design system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Recharts dashboards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Zod validation on client and server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Vitest + Playwright testing</a:t>
            </a:r>
          </a:p>
        </p:txBody>
      </p:sp>
      <p:sp>
        <p:nvSpPr>
          <p:cNvPr id="542" name="DF 542"/>
          <p:cNvSpPr/>
          <p:nvPr/>
        </p:nvSpPr>
        <p:spPr>
          <a:xfrm>
            <a:off x="4140200" y="2870200"/>
            <a:ext cx="3708400" cy="2260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43" name="DF 543"/>
          <p:cNvSpPr/>
          <p:nvPr/>
        </p:nvSpPr>
        <p:spPr>
          <a:xfrm>
            <a:off x="4140200" y="2870200"/>
            <a:ext cx="50800" cy="2260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44" name="DF 544"/>
          <p:cNvSpPr/>
          <p:nvPr/>
        </p:nvSpPr>
        <p:spPr>
          <a:xfrm>
            <a:off x="4318000" y="29464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D4ED8"/>
                </a:solidFill>
                <a:latin typeface="Calibri"/>
                <a:cs typeface="Calibri"/>
              </a:rPr>
              <a:t>SECURITY BY DESIGN</a:t>
            </a:r>
          </a:p>
        </p:txBody>
      </p:sp>
      <p:cxnSp>
        <p:nvCxnSpPr>
          <p:cNvPr id="545" name="DF line 545"/>
          <p:cNvCxnSpPr/>
          <p:nvPr/>
        </p:nvCxnSpPr>
        <p:spPr>
          <a:xfrm>
            <a:off x="4318000" y="3238500"/>
            <a:ext cx="3352800" cy="0"/>
          </a:xfrm>
          <a:prstGeom prst="line">
            <a:avLst/>
          </a:prstGeom>
          <a:ln w="9525">
            <a:solidFill>
              <a:srgbClr val="93C5FD"/>
            </a:solidFill>
          </a:ln>
        </p:spPr>
      </p:cxnSp>
      <p:sp>
        <p:nvSpPr>
          <p:cNvPr id="546" name="DF 546"/>
          <p:cNvSpPr/>
          <p:nvPr/>
        </p:nvSpPr>
        <p:spPr>
          <a:xfrm>
            <a:off x="4318000" y="3327400"/>
            <a:ext cx="3429000" cy="172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95000"/>
              </a:lnSpc>
              <a:spcBef>
                <a:spcPts val="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scrypt password hashing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Server-side sessions, 12 h / 2 h idle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Lockout after 5 failed sign-ins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Role checks on every server action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Signed, expiring file links</a:t>
            </a:r>
          </a:p>
          <a:p>
            <a:pPr marL="171450" indent="-171450" algn="l">
              <a:lnSpc>
                <a:spcPct val="95000"/>
              </a:lnSpc>
              <a:spcBef>
                <a:spcPts val="500"/>
              </a:spcBef>
              <a:buClr>
                <a:srgbClr val="1D4ED8"/>
              </a:buClr>
              <a:buFont typeface="Arial"/>
              <a:buChar char="▪"/>
            </a:pPr>
            <a:r>
              <a:rPr lang="en-US" sz="1300" dirty="0">
                <a:solidFill>
                  <a:srgbClr val="0F172A"/>
                </a:solidFill>
                <a:latin typeface="Calibri"/>
                <a:cs typeface="Calibri"/>
              </a:rPr>
              <a:t>CSP, HSTS and security headers</a:t>
            </a:r>
          </a:p>
        </p:txBody>
      </p:sp>
      <p:sp>
        <p:nvSpPr>
          <p:cNvPr id="547" name="DF 547"/>
          <p:cNvSpPr/>
          <p:nvPr/>
        </p:nvSpPr>
        <p:spPr>
          <a:xfrm>
            <a:off x="7975600" y="2870200"/>
            <a:ext cx="3911600" cy="2260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48" name="DF 548"/>
          <p:cNvSpPr/>
          <p:nvPr/>
        </p:nvSpPr>
        <p:spPr>
          <a:xfrm>
            <a:off x="7975600" y="2870200"/>
            <a:ext cx="50800" cy="2260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49" name="DF 549"/>
          <p:cNvSpPr/>
          <p:nvPr/>
        </p:nvSpPr>
        <p:spPr>
          <a:xfrm>
            <a:off x="8153400" y="29464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D4ED8"/>
                </a:solidFill>
                <a:latin typeface="Calibri"/>
                <a:cs typeface="Calibri"/>
              </a:rPr>
              <a:t>FIVE ROLES</a:t>
            </a:r>
          </a:p>
        </p:txBody>
      </p:sp>
      <p:cxnSp>
        <p:nvCxnSpPr>
          <p:cNvPr id="550" name="DF line 550"/>
          <p:cNvCxnSpPr/>
          <p:nvPr/>
        </p:nvCxnSpPr>
        <p:spPr>
          <a:xfrm>
            <a:off x="8153400" y="3238500"/>
            <a:ext cx="3556000" cy="0"/>
          </a:xfrm>
          <a:prstGeom prst="line">
            <a:avLst/>
          </a:prstGeom>
          <a:ln w="9525">
            <a:solidFill>
              <a:srgbClr val="93C5FD"/>
            </a:solidFill>
          </a:ln>
        </p:spPr>
      </p:cxnSp>
      <p:sp>
        <p:nvSpPr>
          <p:cNvPr id="551" name="Role Administrator"/>
          <p:cNvSpPr/>
          <p:nvPr/>
        </p:nvSpPr>
        <p:spPr>
          <a:xfrm>
            <a:off x="8153400" y="3340100"/>
            <a:ext cx="3556000" cy="292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52" name="DF 552"/>
          <p:cNvSpPr/>
          <p:nvPr/>
        </p:nvSpPr>
        <p:spPr>
          <a:xfrm>
            <a:off x="8255000" y="3435350"/>
            <a:ext cx="101600" cy="1016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53" name="DF 553"/>
          <p:cNvSpPr/>
          <p:nvPr/>
        </p:nvSpPr>
        <p:spPr>
          <a:xfrm>
            <a:off x="8712200" y="3340100"/>
            <a:ext cx="2921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cs typeface="Calibri"/>
              </a:rPr>
              <a:t>Administrator</a:t>
            </a:r>
          </a:p>
        </p:txBody>
      </p:sp>
      <p:sp>
        <p:nvSpPr>
          <p:cNvPr id="554" name="Role Institution User"/>
          <p:cNvSpPr/>
          <p:nvPr/>
        </p:nvSpPr>
        <p:spPr>
          <a:xfrm>
            <a:off x="8153400" y="3689350"/>
            <a:ext cx="3556000" cy="292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55" name="DF 555"/>
          <p:cNvSpPr/>
          <p:nvPr/>
        </p:nvSpPr>
        <p:spPr>
          <a:xfrm>
            <a:off x="8255000" y="3784600"/>
            <a:ext cx="101600" cy="10160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56" name="DF 556"/>
          <p:cNvSpPr/>
          <p:nvPr/>
        </p:nvSpPr>
        <p:spPr>
          <a:xfrm>
            <a:off x="8712200" y="3689350"/>
            <a:ext cx="2921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cs typeface="Calibri"/>
              </a:rPr>
              <a:t>Institution User</a:t>
            </a:r>
          </a:p>
        </p:txBody>
      </p:sp>
      <p:sp>
        <p:nvSpPr>
          <p:cNvPr id="557" name="Role Verification Officer"/>
          <p:cNvSpPr/>
          <p:nvPr/>
        </p:nvSpPr>
        <p:spPr>
          <a:xfrm>
            <a:off x="8153400" y="4038600"/>
            <a:ext cx="3556000" cy="292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58" name="DF 558"/>
          <p:cNvSpPr/>
          <p:nvPr/>
        </p:nvSpPr>
        <p:spPr>
          <a:xfrm>
            <a:off x="8255000" y="4133850"/>
            <a:ext cx="101600" cy="101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59" name="DF 559"/>
          <p:cNvSpPr/>
          <p:nvPr/>
        </p:nvSpPr>
        <p:spPr>
          <a:xfrm>
            <a:off x="8712200" y="4038600"/>
            <a:ext cx="2921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cs typeface="Calibri"/>
              </a:rPr>
              <a:t>Verification Officer</a:t>
            </a:r>
          </a:p>
        </p:txBody>
      </p:sp>
      <p:sp>
        <p:nvSpPr>
          <p:cNvPr id="560" name="Role Finance Officer"/>
          <p:cNvSpPr/>
          <p:nvPr/>
        </p:nvSpPr>
        <p:spPr>
          <a:xfrm>
            <a:off x="8153400" y="4387850"/>
            <a:ext cx="3556000" cy="292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61" name="DF 561"/>
          <p:cNvSpPr/>
          <p:nvPr/>
        </p:nvSpPr>
        <p:spPr>
          <a:xfrm>
            <a:off x="8255000" y="4483100"/>
            <a:ext cx="101600" cy="101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62" name="DF 562"/>
          <p:cNvSpPr/>
          <p:nvPr/>
        </p:nvSpPr>
        <p:spPr>
          <a:xfrm>
            <a:off x="8712200" y="4387850"/>
            <a:ext cx="2921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cs typeface="Calibri"/>
              </a:rPr>
              <a:t>Finance Officer</a:t>
            </a:r>
          </a:p>
        </p:txBody>
      </p:sp>
      <p:sp>
        <p:nvSpPr>
          <p:cNvPr id="563" name="Role Auditor"/>
          <p:cNvSpPr/>
          <p:nvPr/>
        </p:nvSpPr>
        <p:spPr>
          <a:xfrm>
            <a:off x="8153400" y="4737100"/>
            <a:ext cx="3556000" cy="292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64" name="DF 564"/>
          <p:cNvSpPr/>
          <p:nvPr/>
        </p:nvSpPr>
        <p:spPr>
          <a:xfrm>
            <a:off x="8255000" y="4832350"/>
            <a:ext cx="101600" cy="101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65" name="DF 565"/>
          <p:cNvSpPr/>
          <p:nvPr/>
        </p:nvSpPr>
        <p:spPr>
          <a:xfrm>
            <a:off x="8712200" y="4737100"/>
            <a:ext cx="2921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cs typeface="Calibri"/>
              </a:rPr>
              <a:t>Auditor</a:t>
            </a:r>
          </a:p>
        </p:txBody>
      </p:sp>
      <p:sp>
        <p:nvSpPr>
          <p:cNvPr id="566" name="DF 566"/>
          <p:cNvSpPr/>
          <p:nvPr/>
        </p:nvSpPr>
        <p:spPr>
          <a:xfrm>
            <a:off x="304800" y="5257800"/>
            <a:ext cx="1498600" cy="965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1600" tIns="0" rIns="10160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3-LAYER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</a:p>
        </p:txBody>
      </p:sp>
      <p:sp>
        <p:nvSpPr>
          <p:cNvPr id="567" name="DF 567"/>
          <p:cNvSpPr/>
          <p:nvPr/>
        </p:nvSpPr>
        <p:spPr>
          <a:xfrm>
            <a:off x="2057400" y="5257800"/>
            <a:ext cx="1498600" cy="965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txBody>
          <a:bodyPr wrap="square" lIns="76200" tIns="0" rIns="7620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1D4ED8"/>
                </a:solidFill>
                <a:latin typeface="Calibri"/>
                <a:cs typeface="Calibri"/>
              </a:rPr>
              <a:t>1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Secure Records</a:t>
            </a:r>
          </a:p>
        </p:txBody>
      </p:sp>
      <p:sp>
        <p:nvSpPr>
          <p:cNvPr id="568" name="DF 568"/>
          <p:cNvSpPr/>
          <p:nvPr/>
        </p:nvSpPr>
        <p:spPr>
          <a:xfrm rot="5400000">
            <a:off x="1866900" y="5676900"/>
            <a:ext cx="127000" cy="1270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69" name="DF 569"/>
          <p:cNvSpPr/>
          <p:nvPr/>
        </p:nvSpPr>
        <p:spPr>
          <a:xfrm>
            <a:off x="3784600" y="5257800"/>
            <a:ext cx="1498600" cy="965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txBody>
          <a:bodyPr wrap="square" lIns="76200" tIns="0" rIns="7620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1D4ED8"/>
                </a:solidFill>
                <a:latin typeface="Calibri"/>
                <a:cs typeface="Calibri"/>
              </a:rPr>
              <a:t>2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Rule Automation</a:t>
            </a:r>
          </a:p>
        </p:txBody>
      </p:sp>
      <p:sp>
        <p:nvSpPr>
          <p:cNvPr id="570" name="DF 570"/>
          <p:cNvSpPr/>
          <p:nvPr/>
        </p:nvSpPr>
        <p:spPr>
          <a:xfrm rot="5400000">
            <a:off x="3594100" y="5676900"/>
            <a:ext cx="127000" cy="1270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71" name="DF 571"/>
          <p:cNvSpPr/>
          <p:nvPr/>
        </p:nvSpPr>
        <p:spPr>
          <a:xfrm>
            <a:off x="5511800" y="5257800"/>
            <a:ext cx="1498600" cy="965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txBody>
          <a:bodyPr wrap="square" lIns="76200" tIns="0" rIns="7620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1D4ED8"/>
                </a:solidFill>
                <a:latin typeface="Calibri"/>
                <a:cs typeface="Calibri"/>
              </a:rPr>
              <a:t>3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Dashboards &amp; Audit</a:t>
            </a:r>
          </a:p>
        </p:txBody>
      </p:sp>
      <p:sp>
        <p:nvSpPr>
          <p:cNvPr id="572" name="DF 572"/>
          <p:cNvSpPr/>
          <p:nvPr/>
        </p:nvSpPr>
        <p:spPr>
          <a:xfrm rot="5400000">
            <a:off x="5321300" y="5676900"/>
            <a:ext cx="127000" cy="127000"/>
          </a:xfrm>
          <a:prstGeom prst="triangl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73" name="DF 573"/>
          <p:cNvSpPr/>
          <p:nvPr/>
        </p:nvSpPr>
        <p:spPr>
          <a:xfrm>
            <a:off x="7289800" y="5257800"/>
            <a:ext cx="4597400" cy="965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74" name="DF 574"/>
          <p:cNvSpPr/>
          <p:nvPr/>
        </p:nvSpPr>
        <p:spPr>
          <a:xfrm>
            <a:off x="7289800" y="5257800"/>
            <a:ext cx="50800" cy="96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575" name="DF 575"/>
          <p:cNvSpPr/>
          <p:nvPr/>
        </p:nvSpPr>
        <p:spPr>
          <a:xfrm>
            <a:off x="7467600" y="5334000"/>
            <a:ext cx="304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GitHub: </a:t>
            </a:r>
            <a:r>
              <a:rPr lang="en-US" sz="1200" u="sng" dirty="0">
                <a:solidFill>
                  <a:srgbClr val="1D4ED8"/>
                </a:solidFill>
                <a:latin typeface="Calibri"/>
                <a:cs typeface="Calibri"/>
              </a:rPr>
              <a:t>github.com/LORDXMANOJ/deposit-flow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Live: </a:t>
            </a:r>
            <a:r>
              <a:rPr lang="en-US" sz="1200" u="sng" dirty="0">
                <a:solidFill>
                  <a:srgbClr val="1D4ED8"/>
                </a:solidFill>
                <a:latin typeface="Calibri"/>
                <a:cs typeface="Calibri"/>
              </a:rPr>
              <a:t>deposit-flow-inky.vercel.app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Progress: </a:t>
            </a: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working prototype, 89 automated tests passing</a:t>
            </a:r>
          </a:p>
        </p:txBody>
      </p:sp>
      <p:sp>
        <p:nvSpPr>
          <p:cNvPr id="576" name="Demo Video button"/>
          <p:cNvSpPr/>
          <p:nvPr/>
        </p:nvSpPr>
        <p:spPr>
          <a:xfrm>
            <a:off x="10617200" y="5562600"/>
            <a:ext cx="1143000" cy="3556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Demo Video</a:t>
            </a:r>
          </a:p>
        </p:txBody>
      </p:sp>
      <p:pic>
        <p:nvPicPr>
          <p:cNvPr id="17410" name="Graphic 17410" descr="File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5900" y="1752600"/>
            <a:ext cx="215900" cy="215900"/>
          </a:xfrm>
          <a:prstGeom prst="rect">
            <a:avLst/>
          </a:prstGeom>
        </p:spPr>
      </p:pic>
      <p:pic>
        <p:nvPicPr>
          <p:cNvPr id="17411" name="Graphic 17411" descr="Administra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0100" y="3371850"/>
            <a:ext cx="228600" cy="228600"/>
          </a:xfrm>
          <a:prstGeom prst="rect">
            <a:avLst/>
          </a:prstGeom>
        </p:spPr>
      </p:pic>
      <p:pic>
        <p:nvPicPr>
          <p:cNvPr id="17412" name="Graphic 17412" descr="Institution us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0100" y="3721100"/>
            <a:ext cx="228600" cy="228600"/>
          </a:xfrm>
          <a:prstGeom prst="rect">
            <a:avLst/>
          </a:prstGeom>
        </p:spPr>
      </p:pic>
      <p:pic>
        <p:nvPicPr>
          <p:cNvPr id="17413" name="Graphic 17413" descr="Verification offic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20100" y="4070350"/>
            <a:ext cx="228600" cy="228600"/>
          </a:xfrm>
          <a:prstGeom prst="rect">
            <a:avLst/>
          </a:prstGeom>
        </p:spPr>
      </p:pic>
      <p:pic>
        <p:nvPicPr>
          <p:cNvPr id="17414" name="Graphic 17414" descr="Finance offic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20100" y="4419600"/>
            <a:ext cx="228600" cy="228600"/>
          </a:xfrm>
          <a:prstGeom prst="rect">
            <a:avLst/>
          </a:prstGeom>
        </p:spPr>
      </p:pic>
      <p:pic>
        <p:nvPicPr>
          <p:cNvPr id="17415" name="Graphic 17415" descr="Audi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20100" y="476885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04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65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rgbClr val="111111"/>
                </a:solidFill>
                <a:latin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SPADES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F172A"/>
                </a:solidFill>
              </a:rPr>
              <a:t>SPADES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00" name="DF 600"/>
          <p:cNvSpPr/>
          <p:nvPr/>
        </p:nvSpPr>
        <p:spPr>
          <a:xfrm>
            <a:off x="304800" y="1168400"/>
            <a:ext cx="3302000" cy="406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01" name="DF 601"/>
          <p:cNvSpPr/>
          <p:nvPr/>
        </p:nvSpPr>
        <p:spPr>
          <a:xfrm>
            <a:off x="304800" y="1168400"/>
            <a:ext cx="50800" cy="4064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02" name="DF 602"/>
          <p:cNvSpPr/>
          <p:nvPr/>
        </p:nvSpPr>
        <p:spPr>
          <a:xfrm>
            <a:off x="482600" y="1219200"/>
            <a:ext cx="2971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TECHNICAL FEASIBILITY</a:t>
            </a:r>
          </a:p>
        </p:txBody>
      </p:sp>
      <p:cxnSp>
        <p:nvCxnSpPr>
          <p:cNvPr id="603" name="DF line 603"/>
          <p:cNvCxnSpPr/>
          <p:nvPr/>
        </p:nvCxnSpPr>
        <p:spPr>
          <a:xfrm>
            <a:off x="482600" y="1511300"/>
            <a:ext cx="29718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604" name="Feas row 1"/>
          <p:cNvSpPr/>
          <p:nvPr/>
        </p:nvSpPr>
        <p:spPr>
          <a:xfrm>
            <a:off x="457200" y="1625600"/>
            <a:ext cx="30226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0" rIns="38100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Built on free, open-source tools</a:t>
            </a:r>
          </a:p>
        </p:txBody>
      </p:sp>
      <p:sp>
        <p:nvSpPr>
          <p:cNvPr id="605" name="Feas row 2"/>
          <p:cNvSpPr/>
          <p:nvPr/>
        </p:nvSpPr>
        <p:spPr>
          <a:xfrm>
            <a:off x="457200" y="2184400"/>
            <a:ext cx="30226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0" rIns="38100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Runs on free-tier hosting (Vercel + Neon)</a:t>
            </a:r>
          </a:p>
        </p:txBody>
      </p:sp>
      <p:sp>
        <p:nvSpPr>
          <p:cNvPr id="606" name="Feas row 3"/>
          <p:cNvSpPr/>
          <p:nvPr/>
        </p:nvSpPr>
        <p:spPr>
          <a:xfrm>
            <a:off x="457200" y="2743200"/>
            <a:ext cx="30226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0" rIns="38100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Same PostgreSQL schema locally and hosted</a:t>
            </a:r>
          </a:p>
        </p:txBody>
      </p:sp>
      <p:sp>
        <p:nvSpPr>
          <p:cNvPr id="607" name="Feas row 4"/>
          <p:cNvSpPr/>
          <p:nvPr/>
        </p:nvSpPr>
        <p:spPr>
          <a:xfrm>
            <a:off x="457200" y="3302000"/>
            <a:ext cx="30226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0" rIns="38100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Working prototype, not a mock-up</a:t>
            </a:r>
          </a:p>
        </p:txBody>
      </p:sp>
      <p:sp>
        <p:nvSpPr>
          <p:cNvPr id="608" name="Feas row 5"/>
          <p:cNvSpPr/>
          <p:nvPr/>
        </p:nvSpPr>
        <p:spPr>
          <a:xfrm>
            <a:off x="457200" y="3860800"/>
            <a:ext cx="30226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0" rIns="38100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Scales by adding stateless servers</a:t>
            </a:r>
          </a:p>
        </p:txBody>
      </p:sp>
      <p:sp>
        <p:nvSpPr>
          <p:cNvPr id="609" name="DF 609"/>
          <p:cNvSpPr/>
          <p:nvPr/>
        </p:nvSpPr>
        <p:spPr>
          <a:xfrm>
            <a:off x="482600" y="4445000"/>
            <a:ext cx="2971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Feasibility criteria met  </a:t>
            </a:r>
            <a:r>
              <a:rPr lang="en-US" sz="1400" b="1" dirty="0">
                <a:solidFill>
                  <a:srgbClr val="1D4ED8"/>
                </a:solidFill>
                <a:latin typeface="Calibri"/>
                <a:cs typeface="Calibri"/>
              </a:rPr>
              <a:t>5 / 5</a:t>
            </a:r>
          </a:p>
        </p:txBody>
      </p:sp>
      <p:sp>
        <p:nvSpPr>
          <p:cNvPr id="610" name="DF 610"/>
          <p:cNvSpPr/>
          <p:nvPr/>
        </p:nvSpPr>
        <p:spPr>
          <a:xfrm>
            <a:off x="482600" y="4775200"/>
            <a:ext cx="553720" cy="127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1" name="DF 611"/>
          <p:cNvSpPr/>
          <p:nvPr/>
        </p:nvSpPr>
        <p:spPr>
          <a:xfrm>
            <a:off x="1087120" y="4775200"/>
            <a:ext cx="553720" cy="127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2" name="DF 612"/>
          <p:cNvSpPr/>
          <p:nvPr/>
        </p:nvSpPr>
        <p:spPr>
          <a:xfrm>
            <a:off x="1691640" y="4775200"/>
            <a:ext cx="553720" cy="127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3" name="DF 613"/>
          <p:cNvSpPr/>
          <p:nvPr/>
        </p:nvSpPr>
        <p:spPr>
          <a:xfrm>
            <a:off x="2296160" y="4775200"/>
            <a:ext cx="553720" cy="127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4" name="DF 614"/>
          <p:cNvSpPr/>
          <p:nvPr/>
        </p:nvSpPr>
        <p:spPr>
          <a:xfrm>
            <a:off x="2900680" y="4775200"/>
            <a:ext cx="553720" cy="127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5" name="DF 615"/>
          <p:cNvSpPr/>
          <p:nvPr/>
        </p:nvSpPr>
        <p:spPr>
          <a:xfrm>
            <a:off x="3733800" y="1168400"/>
            <a:ext cx="4724400" cy="2159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6" name="DF 616"/>
          <p:cNvSpPr/>
          <p:nvPr/>
        </p:nvSpPr>
        <p:spPr>
          <a:xfrm>
            <a:off x="3733800" y="1168400"/>
            <a:ext cx="50800" cy="2159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7" name="DF 617"/>
          <p:cNvSpPr/>
          <p:nvPr/>
        </p:nvSpPr>
        <p:spPr>
          <a:xfrm>
            <a:off x="3911600" y="1219200"/>
            <a:ext cx="4394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CHALLENGE VS SOLUTION</a:t>
            </a:r>
          </a:p>
        </p:txBody>
      </p:sp>
      <p:cxnSp>
        <p:nvCxnSpPr>
          <p:cNvPr id="618" name="DF line 618"/>
          <p:cNvCxnSpPr/>
          <p:nvPr/>
        </p:nvCxnSpPr>
        <p:spPr>
          <a:xfrm>
            <a:off x="3911600" y="1511300"/>
            <a:ext cx="43942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619" name="DF 619"/>
          <p:cNvSpPr/>
          <p:nvPr/>
        </p:nvSpPr>
        <p:spPr>
          <a:xfrm>
            <a:off x="3911600" y="1574800"/>
            <a:ext cx="160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Challenge</a:t>
            </a:r>
          </a:p>
        </p:txBody>
      </p:sp>
      <p:sp>
        <p:nvSpPr>
          <p:cNvPr id="620" name="DF 620"/>
          <p:cNvSpPr/>
          <p:nvPr/>
        </p:nvSpPr>
        <p:spPr>
          <a:xfrm>
            <a:off x="5816600" y="15748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1D4ED8"/>
                </a:solidFill>
                <a:latin typeface="Calibri"/>
                <a:cs typeface="Calibri"/>
              </a:rPr>
              <a:t>Engineering Solution</a:t>
            </a:r>
          </a:p>
        </p:txBody>
      </p:sp>
      <p:cxnSp>
        <p:nvCxnSpPr>
          <p:cNvPr id="621" name="DF line 621"/>
          <p:cNvCxnSpPr/>
          <p:nvPr/>
        </p:nvCxnSpPr>
        <p:spPr>
          <a:xfrm>
            <a:off x="3911600" y="1816100"/>
            <a:ext cx="4394200" cy="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22" name="DF 622"/>
          <p:cNvSpPr/>
          <p:nvPr/>
        </p:nvSpPr>
        <p:spPr>
          <a:xfrm>
            <a:off x="3911600" y="18288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Many users at once</a:t>
            </a:r>
          </a:p>
        </p:txBody>
      </p:sp>
      <p:sp>
        <p:nvSpPr>
          <p:cNvPr id="623" name="DF 623"/>
          <p:cNvSpPr/>
          <p:nvPr/>
        </p:nvSpPr>
        <p:spPr>
          <a:xfrm>
            <a:off x="5588000" y="1943100"/>
            <a:ext cx="152400" cy="1270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24" name="DF 624"/>
          <p:cNvSpPr/>
          <p:nvPr/>
        </p:nvSpPr>
        <p:spPr>
          <a:xfrm>
            <a:off x="5816600" y="18288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Stateless servers sharing one Postgres</a:t>
            </a:r>
          </a:p>
        </p:txBody>
      </p:sp>
      <p:cxnSp>
        <p:nvCxnSpPr>
          <p:cNvPr id="625" name="DF line 625"/>
          <p:cNvCxnSpPr/>
          <p:nvPr/>
        </p:nvCxnSpPr>
        <p:spPr>
          <a:xfrm>
            <a:off x="3911600" y="2184400"/>
            <a:ext cx="4394200" cy="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26" name="DF 626"/>
          <p:cNvSpPr/>
          <p:nvPr/>
        </p:nvSpPr>
        <p:spPr>
          <a:xfrm>
            <a:off x="3911600" y="21971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Duplicate alerts</a:t>
            </a:r>
          </a:p>
        </p:txBody>
      </p:sp>
      <p:sp>
        <p:nvSpPr>
          <p:cNvPr id="627" name="DF 627"/>
          <p:cNvSpPr/>
          <p:nvPr/>
        </p:nvSpPr>
        <p:spPr>
          <a:xfrm>
            <a:off x="5588000" y="2311400"/>
            <a:ext cx="152400" cy="1270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28" name="DF 628"/>
          <p:cNvSpPr/>
          <p:nvPr/>
        </p:nvSpPr>
        <p:spPr>
          <a:xfrm>
            <a:off x="5816600" y="21971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Unique key per rule, record and threshold</a:t>
            </a:r>
          </a:p>
        </p:txBody>
      </p:sp>
      <p:cxnSp>
        <p:nvCxnSpPr>
          <p:cNvPr id="629" name="DF line 629"/>
          <p:cNvCxnSpPr/>
          <p:nvPr/>
        </p:nvCxnSpPr>
        <p:spPr>
          <a:xfrm>
            <a:off x="3911600" y="2552700"/>
            <a:ext cx="4394200" cy="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30" name="DF 630"/>
          <p:cNvSpPr/>
          <p:nvPr/>
        </p:nvSpPr>
        <p:spPr>
          <a:xfrm>
            <a:off x="3911600" y="25654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Record tampering</a:t>
            </a:r>
          </a:p>
        </p:txBody>
      </p:sp>
      <p:sp>
        <p:nvSpPr>
          <p:cNvPr id="631" name="DF 631"/>
          <p:cNvSpPr/>
          <p:nvPr/>
        </p:nvSpPr>
        <p:spPr>
          <a:xfrm>
            <a:off x="5588000" y="2679700"/>
            <a:ext cx="152400" cy="1270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32" name="DF 632"/>
          <p:cNvSpPr/>
          <p:nvPr/>
        </p:nvSpPr>
        <p:spPr>
          <a:xfrm>
            <a:off x="5816600" y="25654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Database trigger blocks audit edits</a:t>
            </a:r>
          </a:p>
        </p:txBody>
      </p:sp>
      <p:cxnSp>
        <p:nvCxnSpPr>
          <p:cNvPr id="633" name="DF line 633"/>
          <p:cNvCxnSpPr/>
          <p:nvPr/>
        </p:nvCxnSpPr>
        <p:spPr>
          <a:xfrm>
            <a:off x="3911600" y="2921000"/>
            <a:ext cx="4394200" cy="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34" name="DF 634"/>
          <p:cNvSpPr/>
          <p:nvPr/>
        </p:nvSpPr>
        <p:spPr>
          <a:xfrm>
            <a:off x="3911600" y="29337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Unauthorised access</a:t>
            </a:r>
          </a:p>
        </p:txBody>
      </p:sp>
      <p:sp>
        <p:nvSpPr>
          <p:cNvPr id="635" name="DF 635"/>
          <p:cNvSpPr/>
          <p:nvPr/>
        </p:nvSpPr>
        <p:spPr>
          <a:xfrm>
            <a:off x="5588000" y="3048000"/>
            <a:ext cx="152400" cy="1270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36" name="DF 636"/>
          <p:cNvSpPr/>
          <p:nvPr/>
        </p:nvSpPr>
        <p:spPr>
          <a:xfrm>
            <a:off x="5816600" y="29337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Server-side role and institution checks</a:t>
            </a:r>
          </a:p>
        </p:txBody>
      </p:sp>
      <p:sp>
        <p:nvSpPr>
          <p:cNvPr id="637" name="DF 637"/>
          <p:cNvSpPr/>
          <p:nvPr/>
        </p:nvSpPr>
        <p:spPr>
          <a:xfrm>
            <a:off x="3733800" y="3429000"/>
            <a:ext cx="4724400" cy="180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38" name="DF 638"/>
          <p:cNvSpPr/>
          <p:nvPr/>
        </p:nvSpPr>
        <p:spPr>
          <a:xfrm>
            <a:off x="3733800" y="3429000"/>
            <a:ext cx="50800" cy="1803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39" name="DF 639"/>
          <p:cNvSpPr/>
          <p:nvPr/>
        </p:nvSpPr>
        <p:spPr>
          <a:xfrm>
            <a:off x="3911600" y="3479800"/>
            <a:ext cx="4394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VALIDATION &amp; EVALUATION PLAN</a:t>
            </a:r>
          </a:p>
        </p:txBody>
      </p:sp>
      <p:cxnSp>
        <p:nvCxnSpPr>
          <p:cNvPr id="640" name="DF line 640"/>
          <p:cNvCxnSpPr/>
          <p:nvPr/>
        </p:nvCxnSpPr>
        <p:spPr>
          <a:xfrm>
            <a:off x="3911600" y="3771900"/>
            <a:ext cx="43942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641" name="Val row 1"/>
          <p:cNvSpPr/>
          <p:nvPr/>
        </p:nvSpPr>
        <p:spPr>
          <a:xfrm>
            <a:off x="3911600" y="3860800"/>
            <a:ext cx="408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Boundary-date tests (today, +1, +7, +8, +31 days)</a:t>
            </a:r>
          </a:p>
        </p:txBody>
      </p:sp>
      <p:sp>
        <p:nvSpPr>
          <p:cNvPr id="642" name="Val row 2"/>
          <p:cNvSpPr/>
          <p:nvPr/>
        </p:nvSpPr>
        <p:spPr>
          <a:xfrm>
            <a:off x="3911600" y="4127500"/>
            <a:ext cx="408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Authorisation attack tests</a:t>
            </a:r>
          </a:p>
        </p:txBody>
      </p:sp>
      <p:sp>
        <p:nvSpPr>
          <p:cNvPr id="643" name="Val row 3"/>
          <p:cNvSpPr/>
          <p:nvPr/>
        </p:nvSpPr>
        <p:spPr>
          <a:xfrm>
            <a:off x="3911600" y="4394200"/>
            <a:ext cx="408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Duplicate-alert tests</a:t>
            </a:r>
          </a:p>
        </p:txBody>
      </p:sp>
      <p:sp>
        <p:nvSpPr>
          <p:cNvPr id="644" name="Val row 4"/>
          <p:cNvSpPr/>
          <p:nvPr/>
        </p:nvSpPr>
        <p:spPr>
          <a:xfrm>
            <a:off x="3911600" y="4660900"/>
            <a:ext cx="408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End-to-end browser walkthrough</a:t>
            </a:r>
          </a:p>
        </p:txBody>
      </p:sp>
      <p:sp>
        <p:nvSpPr>
          <p:cNvPr id="645" name="Val row 5"/>
          <p:cNvSpPr/>
          <p:nvPr/>
        </p:nvSpPr>
        <p:spPr>
          <a:xfrm>
            <a:off x="3911600" y="4927600"/>
            <a:ext cx="408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65100" indent="-165100" algn="l">
              <a:lnSpc>
                <a:spcPct val="90000"/>
              </a:lnSpc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Postgres driver tested over the wire protocol</a:t>
            </a:r>
          </a:p>
        </p:txBody>
      </p:sp>
      <p:sp>
        <p:nvSpPr>
          <p:cNvPr id="646" name="DF 646"/>
          <p:cNvSpPr/>
          <p:nvPr/>
        </p:nvSpPr>
        <p:spPr>
          <a:xfrm>
            <a:off x="8585200" y="1168400"/>
            <a:ext cx="3302000" cy="406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47" name="DF 647"/>
          <p:cNvSpPr/>
          <p:nvPr/>
        </p:nvSpPr>
        <p:spPr>
          <a:xfrm>
            <a:off x="8585200" y="1168400"/>
            <a:ext cx="50800" cy="4064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48" name="DF 648"/>
          <p:cNvSpPr/>
          <p:nvPr/>
        </p:nvSpPr>
        <p:spPr>
          <a:xfrm>
            <a:off x="8763000" y="1219200"/>
            <a:ext cx="2971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TARGET OUTCOMES</a:t>
            </a:r>
          </a:p>
        </p:txBody>
      </p:sp>
      <p:cxnSp>
        <p:nvCxnSpPr>
          <p:cNvPr id="649" name="DF line 649"/>
          <p:cNvCxnSpPr/>
          <p:nvPr/>
        </p:nvCxnSpPr>
        <p:spPr>
          <a:xfrm>
            <a:off x="8763000" y="1511300"/>
            <a:ext cx="29718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650" name="DF 650"/>
          <p:cNvSpPr/>
          <p:nvPr/>
        </p:nvSpPr>
        <p:spPr>
          <a:xfrm>
            <a:off x="8737600" y="1625600"/>
            <a:ext cx="2997200" cy="1193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51" name="DF 651"/>
          <p:cNvSpPr/>
          <p:nvPr/>
        </p:nvSpPr>
        <p:spPr>
          <a:xfrm>
            <a:off x="8890000" y="1701800"/>
            <a:ext cx="2692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93C5FD"/>
                </a:solidFill>
                <a:latin typeface="Calibri"/>
                <a:cs typeface="Calibri"/>
              </a:rPr>
              <a:t>AUTOMATED TESTS</a:t>
            </a:r>
          </a:p>
        </p:txBody>
      </p:sp>
      <p:sp>
        <p:nvSpPr>
          <p:cNvPr id="652" name="DF 652"/>
          <p:cNvSpPr/>
          <p:nvPr/>
        </p:nvSpPr>
        <p:spPr>
          <a:xfrm>
            <a:off x="8890000" y="1905000"/>
            <a:ext cx="269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  <a:cs typeface="Calibri"/>
              </a:rPr>
              <a:t>89 / 89</a:t>
            </a:r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  passing</a:t>
            </a:r>
          </a:p>
        </p:txBody>
      </p:sp>
      <p:sp>
        <p:nvSpPr>
          <p:cNvPr id="653" name="DF 653"/>
          <p:cNvSpPr/>
          <p:nvPr/>
        </p:nvSpPr>
        <p:spPr>
          <a:xfrm>
            <a:off x="8890000" y="2438400"/>
            <a:ext cx="2692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54" name="DF 654"/>
          <p:cNvSpPr/>
          <p:nvPr/>
        </p:nvSpPr>
        <p:spPr>
          <a:xfrm>
            <a:off x="8890000" y="2527300"/>
            <a:ext cx="2692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cs typeface="Calibri"/>
              </a:rPr>
              <a:t>Backend, security &amp; workflow</a:t>
            </a:r>
          </a:p>
        </p:txBody>
      </p:sp>
      <p:sp>
        <p:nvSpPr>
          <p:cNvPr id="655" name="Outcome row 1"/>
          <p:cNvSpPr/>
          <p:nvPr/>
        </p:nvSpPr>
        <p:spPr>
          <a:xfrm>
            <a:off x="8737600" y="2921000"/>
            <a:ext cx="29972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457200" tIns="0" rIns="10160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Verification turnaround tracked</a:t>
            </a:r>
          </a:p>
        </p:txBody>
      </p:sp>
      <p:sp>
        <p:nvSpPr>
          <p:cNvPr id="656" name="Outcome row 2"/>
          <p:cNvSpPr/>
          <p:nvPr/>
        </p:nvSpPr>
        <p:spPr>
          <a:xfrm>
            <a:off x="8737600" y="3492500"/>
            <a:ext cx="29972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457200" tIns="0" rIns="10160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Renewal reminder coverage</a:t>
            </a:r>
          </a:p>
        </p:txBody>
      </p:sp>
      <p:sp>
        <p:nvSpPr>
          <p:cNvPr id="657" name="Outcome row 3"/>
          <p:cNvSpPr/>
          <p:nvPr/>
        </p:nvSpPr>
        <p:spPr>
          <a:xfrm>
            <a:off x="8737600" y="4064000"/>
            <a:ext cx="29972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457200" tIns="0" rIns="10160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Discrepancies caught</a:t>
            </a:r>
          </a:p>
        </p:txBody>
      </p:sp>
      <p:sp>
        <p:nvSpPr>
          <p:cNvPr id="658" name="Outcome row 4"/>
          <p:cNvSpPr/>
          <p:nvPr/>
        </p:nvSpPr>
        <p:spPr>
          <a:xfrm>
            <a:off x="8737600" y="4635500"/>
            <a:ext cx="29972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457200" tIns="0" rIns="10160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Full audit history</a:t>
            </a:r>
          </a:p>
        </p:txBody>
      </p:sp>
      <p:sp>
        <p:nvSpPr>
          <p:cNvPr id="659" name="DF 659"/>
          <p:cNvSpPr/>
          <p:nvPr/>
        </p:nvSpPr>
        <p:spPr>
          <a:xfrm>
            <a:off x="304800" y="5334000"/>
            <a:ext cx="115824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60" name="DF 660"/>
          <p:cNvSpPr/>
          <p:nvPr/>
        </p:nvSpPr>
        <p:spPr>
          <a:xfrm>
            <a:off x="304800" y="5334000"/>
            <a:ext cx="1778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27000" tIns="0" rIns="127000" bIns="0" rtlCol="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COMMERCIAL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FEASIBILITY</a:t>
            </a:r>
          </a:p>
        </p:txBody>
      </p:sp>
      <p:sp>
        <p:nvSpPr>
          <p:cNvPr id="661" name="DF 661"/>
          <p:cNvSpPr/>
          <p:nvPr/>
        </p:nvSpPr>
        <p:spPr>
          <a:xfrm>
            <a:off x="2235200" y="53975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HOSTING COST</a:t>
            </a:r>
          </a:p>
        </p:txBody>
      </p:sp>
      <p:sp>
        <p:nvSpPr>
          <p:cNvPr id="662" name="DF 662"/>
          <p:cNvSpPr/>
          <p:nvPr/>
        </p:nvSpPr>
        <p:spPr>
          <a:xfrm>
            <a:off x="2235200" y="5613400"/>
            <a:ext cx="228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50" dirty="0">
                <a:solidFill>
                  <a:srgbClr val="0F172A"/>
                </a:solidFill>
                <a:latin typeface="Calibri"/>
                <a:cs typeface="Calibri"/>
              </a:rPr>
              <a:t>₹0 on free tiers for the pilot; paid tiers (est.) only at national scale</a:t>
            </a:r>
          </a:p>
        </p:txBody>
      </p:sp>
      <p:cxnSp>
        <p:nvCxnSpPr>
          <p:cNvPr id="663" name="DF line 663"/>
          <p:cNvCxnSpPr/>
          <p:nvPr/>
        </p:nvCxnSpPr>
        <p:spPr>
          <a:xfrm>
            <a:off x="4572000" y="5435600"/>
            <a:ext cx="0" cy="71120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64" name="DF 664"/>
          <p:cNvSpPr/>
          <p:nvPr/>
        </p:nvSpPr>
        <p:spPr>
          <a:xfrm>
            <a:off x="4648200" y="53975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TARGET USERS</a:t>
            </a:r>
          </a:p>
        </p:txBody>
      </p:sp>
      <p:sp>
        <p:nvSpPr>
          <p:cNvPr id="665" name="DF 665"/>
          <p:cNvSpPr/>
          <p:nvPr/>
        </p:nvSpPr>
        <p:spPr>
          <a:xfrm>
            <a:off x="4648200" y="5613400"/>
            <a:ext cx="228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50" dirty="0">
                <a:solidFill>
                  <a:srgbClr val="0F172A"/>
                </a:solidFill>
                <a:latin typeface="Calibri"/>
                <a:cs typeface="Calibri"/>
              </a:rPr>
              <a:t>AICTE Regulation Bureau, approved institutions, bank liaison officers</a:t>
            </a:r>
          </a:p>
        </p:txBody>
      </p:sp>
      <p:cxnSp>
        <p:nvCxnSpPr>
          <p:cNvPr id="666" name="DF line 666"/>
          <p:cNvCxnSpPr/>
          <p:nvPr/>
        </p:nvCxnSpPr>
        <p:spPr>
          <a:xfrm>
            <a:off x="6985000" y="5435600"/>
            <a:ext cx="0" cy="71120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67" name="DF 667"/>
          <p:cNvSpPr/>
          <p:nvPr/>
        </p:nvSpPr>
        <p:spPr>
          <a:xfrm>
            <a:off x="7061200" y="53975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SCALING PATH</a:t>
            </a:r>
          </a:p>
        </p:txBody>
      </p:sp>
      <p:sp>
        <p:nvSpPr>
          <p:cNvPr id="668" name="DF 668"/>
          <p:cNvSpPr/>
          <p:nvPr/>
        </p:nvSpPr>
        <p:spPr>
          <a:xfrm>
            <a:off x="7061200" y="5613400"/>
            <a:ext cx="228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50" dirty="0">
                <a:solidFill>
                  <a:srgbClr val="0F172A"/>
                </a:solidFill>
                <a:latin typeface="Calibri"/>
                <a:cs typeface="Calibri"/>
              </a:rPr>
              <a:t>Add institutions without code changes; move to a managed Postgres plan</a:t>
            </a:r>
          </a:p>
        </p:txBody>
      </p:sp>
      <p:cxnSp>
        <p:nvCxnSpPr>
          <p:cNvPr id="669" name="DF line 669"/>
          <p:cNvCxnSpPr/>
          <p:nvPr/>
        </p:nvCxnSpPr>
        <p:spPr>
          <a:xfrm>
            <a:off x="9398000" y="5435600"/>
            <a:ext cx="0" cy="71120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70" name="DF 670"/>
          <p:cNvSpPr/>
          <p:nvPr/>
        </p:nvSpPr>
        <p:spPr>
          <a:xfrm>
            <a:off x="9474200" y="53975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D4ED8"/>
                </a:solidFill>
                <a:latin typeface="Calibri"/>
                <a:cs typeface="Calibri"/>
              </a:rPr>
              <a:t>TIMELINE</a:t>
            </a:r>
          </a:p>
        </p:txBody>
      </p:sp>
      <p:sp>
        <p:nvSpPr>
          <p:cNvPr id="671" name="DF 671"/>
          <p:cNvSpPr/>
          <p:nvPr/>
        </p:nvSpPr>
        <p:spPr>
          <a:xfrm>
            <a:off x="9474200" y="5613400"/>
            <a:ext cx="228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50" dirty="0">
                <a:solidFill>
                  <a:srgbClr val="0F172A"/>
                </a:solidFill>
                <a:latin typeface="Calibri"/>
                <a:cs typeface="Calibri"/>
              </a:rPr>
              <a:t>Prototype: done · Pilot with one region: 3–6 months (est.)</a:t>
            </a:r>
          </a:p>
        </p:txBody>
      </p:sp>
      <p:pic>
        <p:nvPicPr>
          <p:cNvPr id="17410" name="Graphic 17410" descr="Open-source too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7700" y="1752600"/>
            <a:ext cx="228600" cy="228600"/>
          </a:xfrm>
          <a:prstGeom prst="rect">
            <a:avLst/>
          </a:prstGeom>
        </p:spPr>
      </p:pic>
      <p:pic>
        <p:nvPicPr>
          <p:cNvPr id="17411" name="Graphic 17411" descr="Free-tier host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7700" y="2311400"/>
            <a:ext cx="228600" cy="228600"/>
          </a:xfrm>
          <a:prstGeom prst="rect">
            <a:avLst/>
          </a:prstGeom>
        </p:spPr>
      </p:pic>
      <p:pic>
        <p:nvPicPr>
          <p:cNvPr id="17412" name="Graphic 17412" descr="PostgreSQL schem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7700" y="2870200"/>
            <a:ext cx="228600" cy="228600"/>
          </a:xfrm>
          <a:prstGeom prst="rect">
            <a:avLst/>
          </a:prstGeom>
        </p:spPr>
      </p:pic>
      <p:pic>
        <p:nvPicPr>
          <p:cNvPr id="17413" name="Graphic 17413" descr="Working prototyp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7700" y="3429000"/>
            <a:ext cx="228600" cy="228600"/>
          </a:xfrm>
          <a:prstGeom prst="rect">
            <a:avLst/>
          </a:prstGeom>
        </p:spPr>
      </p:pic>
      <p:pic>
        <p:nvPicPr>
          <p:cNvPr id="17414" name="Graphic 17414" descr="Stateless 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87700" y="3987800"/>
            <a:ext cx="228600" cy="228600"/>
          </a:xfrm>
          <a:prstGeom prst="rect">
            <a:avLst/>
          </a:prstGeom>
        </p:spPr>
      </p:pic>
      <p:pic>
        <p:nvPicPr>
          <p:cNvPr id="17415" name="Graphic 17415" descr="Boundary-date tes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7200" y="3879850"/>
            <a:ext cx="215900" cy="215900"/>
          </a:xfrm>
          <a:prstGeom prst="rect">
            <a:avLst/>
          </a:prstGeom>
        </p:spPr>
      </p:pic>
      <p:pic>
        <p:nvPicPr>
          <p:cNvPr id="17416" name="Graphic 17416" descr="Authorisation tes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7200" y="4146550"/>
            <a:ext cx="215900" cy="215900"/>
          </a:xfrm>
          <a:prstGeom prst="rect">
            <a:avLst/>
          </a:prstGeom>
        </p:spPr>
      </p:pic>
      <p:pic>
        <p:nvPicPr>
          <p:cNvPr id="17417" name="Graphic 17417" descr="Duplicate-alert tes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77200" y="4413250"/>
            <a:ext cx="215900" cy="215900"/>
          </a:xfrm>
          <a:prstGeom prst="rect">
            <a:avLst/>
          </a:prstGeom>
        </p:spPr>
      </p:pic>
      <p:pic>
        <p:nvPicPr>
          <p:cNvPr id="17418" name="Graphic 17418" descr="Browser walkthroug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77200" y="4679950"/>
            <a:ext cx="215900" cy="215900"/>
          </a:xfrm>
          <a:prstGeom prst="rect">
            <a:avLst/>
          </a:prstGeom>
        </p:spPr>
      </p:pic>
      <p:pic>
        <p:nvPicPr>
          <p:cNvPr id="17419" name="Graphic 17419" descr="Wire protocol tes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77200" y="4946650"/>
            <a:ext cx="215900" cy="215900"/>
          </a:xfrm>
          <a:prstGeom prst="rect">
            <a:avLst/>
          </a:prstGeom>
        </p:spPr>
      </p:pic>
      <p:pic>
        <p:nvPicPr>
          <p:cNvPr id="17420" name="Graphic 17420" descr="Turnarou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64600" y="3048000"/>
            <a:ext cx="228600" cy="228600"/>
          </a:xfrm>
          <a:prstGeom prst="rect">
            <a:avLst/>
          </a:prstGeom>
        </p:spPr>
      </p:pic>
      <p:pic>
        <p:nvPicPr>
          <p:cNvPr id="17421" name="Graphic 17421" descr="Renewal remin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64600" y="3619500"/>
            <a:ext cx="228600" cy="228600"/>
          </a:xfrm>
          <a:prstGeom prst="rect">
            <a:avLst/>
          </a:prstGeom>
        </p:spPr>
      </p:pic>
      <p:pic>
        <p:nvPicPr>
          <p:cNvPr id="17422" name="Graphic 17422" descr="Discrepanc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64600" y="4191000"/>
            <a:ext cx="228600" cy="228600"/>
          </a:xfrm>
          <a:prstGeom prst="rect">
            <a:avLst/>
          </a:prstGeom>
        </p:spPr>
      </p:pic>
      <p:pic>
        <p:nvPicPr>
          <p:cNvPr id="17423" name="Graphic 17423" descr="Audit his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64600" y="47625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65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rgbClr val="111111"/>
                </a:solidFill>
                <a:latin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SPADES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F172A"/>
                </a:solidFill>
              </a:rPr>
              <a:t>SPADES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00" name="DF 600"/>
          <p:cNvSpPr/>
          <p:nvPr/>
        </p:nvSpPr>
        <p:spPr>
          <a:xfrm>
            <a:off x="304800" y="1117600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D4ED8"/>
                </a:solidFill>
                <a:latin typeface="Calibri"/>
                <a:cs typeface="Calibri"/>
              </a:rPr>
              <a:t>DIRECT IMPACT ON TARGET USERS</a:t>
            </a:r>
          </a:p>
        </p:txBody>
      </p:sp>
      <p:cxnSp>
        <p:nvCxnSpPr>
          <p:cNvPr id="601" name="DF line 601"/>
          <p:cNvCxnSpPr/>
          <p:nvPr/>
        </p:nvCxnSpPr>
        <p:spPr>
          <a:xfrm>
            <a:off x="304800" y="1371600"/>
            <a:ext cx="115824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602" name="Impact card 1"/>
          <p:cNvSpPr/>
          <p:nvPr/>
        </p:nvSpPr>
        <p:spPr>
          <a:xfrm>
            <a:off x="304800" y="1473200"/>
            <a:ext cx="221488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03" name="DF 603"/>
          <p:cNvSpPr/>
          <p:nvPr/>
        </p:nvSpPr>
        <p:spPr>
          <a:xfrm>
            <a:off x="457200" y="1879600"/>
            <a:ext cx="196088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AICTE Regulation Bureau</a:t>
            </a:r>
          </a:p>
        </p:txBody>
      </p:sp>
      <p:sp>
        <p:nvSpPr>
          <p:cNvPr id="604" name="DF 604"/>
          <p:cNvSpPr/>
          <p:nvPr/>
        </p:nvSpPr>
        <p:spPr>
          <a:xfrm>
            <a:off x="457200" y="2159000"/>
            <a:ext cx="198628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One view of every deposit</a:t>
            </a:r>
          </a:p>
          <a:p>
            <a:pPr marL="128016" indent="-128016" algn="l">
              <a:spcBef>
                <a:spcPts val="20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Overdue items surface automatically</a:t>
            </a:r>
          </a:p>
        </p:txBody>
      </p:sp>
      <p:sp>
        <p:nvSpPr>
          <p:cNvPr id="605" name="Impact card 2"/>
          <p:cNvSpPr/>
          <p:nvPr/>
        </p:nvSpPr>
        <p:spPr>
          <a:xfrm>
            <a:off x="2646680" y="1473200"/>
            <a:ext cx="221488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06" name="DF 606"/>
          <p:cNvSpPr/>
          <p:nvPr/>
        </p:nvSpPr>
        <p:spPr>
          <a:xfrm>
            <a:off x="2799080" y="1879600"/>
            <a:ext cx="196088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Approved Institutions</a:t>
            </a:r>
          </a:p>
        </p:txBody>
      </p:sp>
      <p:sp>
        <p:nvSpPr>
          <p:cNvPr id="607" name="DF 607"/>
          <p:cNvSpPr/>
          <p:nvPr/>
        </p:nvSpPr>
        <p:spPr>
          <a:xfrm>
            <a:off x="2799080" y="2159000"/>
            <a:ext cx="198628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Submit and track online</a:t>
            </a:r>
          </a:p>
          <a:p>
            <a:pPr marL="128016" indent="-128016" algn="l">
              <a:spcBef>
                <a:spcPts val="20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Know exactly what is pending</a:t>
            </a:r>
          </a:p>
        </p:txBody>
      </p:sp>
      <p:sp>
        <p:nvSpPr>
          <p:cNvPr id="608" name="Impact card 3"/>
          <p:cNvSpPr/>
          <p:nvPr/>
        </p:nvSpPr>
        <p:spPr>
          <a:xfrm>
            <a:off x="4988560" y="1473200"/>
            <a:ext cx="221488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09" name="DF 609"/>
          <p:cNvSpPr/>
          <p:nvPr/>
        </p:nvSpPr>
        <p:spPr>
          <a:xfrm>
            <a:off x="5140960" y="1879600"/>
            <a:ext cx="196088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Verification Officers</a:t>
            </a:r>
          </a:p>
        </p:txBody>
      </p:sp>
      <p:sp>
        <p:nvSpPr>
          <p:cNvPr id="610" name="DF 610"/>
          <p:cNvSpPr/>
          <p:nvPr/>
        </p:nvSpPr>
        <p:spPr>
          <a:xfrm>
            <a:off x="5140960" y="2159000"/>
            <a:ext cx="198628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Register beside the document</a:t>
            </a:r>
          </a:p>
          <a:p>
            <a:pPr marL="128016" indent="-128016" algn="l">
              <a:spcBef>
                <a:spcPts val="20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Mismatches flagged before approval</a:t>
            </a:r>
          </a:p>
        </p:txBody>
      </p:sp>
      <p:sp>
        <p:nvSpPr>
          <p:cNvPr id="611" name="Impact card 4"/>
          <p:cNvSpPr/>
          <p:nvPr/>
        </p:nvSpPr>
        <p:spPr>
          <a:xfrm>
            <a:off x="7330440" y="1473200"/>
            <a:ext cx="221488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2" name="DF 612"/>
          <p:cNvSpPr/>
          <p:nvPr/>
        </p:nvSpPr>
        <p:spPr>
          <a:xfrm>
            <a:off x="7482840" y="1879600"/>
            <a:ext cx="196088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Finance &amp; Accounts</a:t>
            </a:r>
          </a:p>
        </p:txBody>
      </p:sp>
      <p:sp>
        <p:nvSpPr>
          <p:cNvPr id="613" name="DF 613"/>
          <p:cNvSpPr/>
          <p:nvPr/>
        </p:nvSpPr>
        <p:spPr>
          <a:xfrm>
            <a:off x="7482840" y="2159000"/>
            <a:ext cx="198628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Clear approval trail</a:t>
            </a:r>
          </a:p>
          <a:p>
            <a:pPr marL="128016" indent="-128016" algn="l">
              <a:spcBef>
                <a:spcPts val="20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No release without approval</a:t>
            </a:r>
          </a:p>
        </p:txBody>
      </p:sp>
      <p:sp>
        <p:nvSpPr>
          <p:cNvPr id="614" name="Impact card 5"/>
          <p:cNvSpPr/>
          <p:nvPr/>
        </p:nvSpPr>
        <p:spPr>
          <a:xfrm>
            <a:off x="9672320" y="1473200"/>
            <a:ext cx="221488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5" name="DF 615"/>
          <p:cNvSpPr/>
          <p:nvPr/>
        </p:nvSpPr>
        <p:spPr>
          <a:xfrm>
            <a:off x="9824720" y="1879600"/>
            <a:ext cx="196088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Auditors &amp; Vigilance</a:t>
            </a:r>
          </a:p>
        </p:txBody>
      </p:sp>
      <p:sp>
        <p:nvSpPr>
          <p:cNvPr id="616" name="DF 616"/>
          <p:cNvSpPr/>
          <p:nvPr/>
        </p:nvSpPr>
        <p:spPr>
          <a:xfrm>
            <a:off x="9824720" y="2159000"/>
            <a:ext cx="198628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Tamper-proof history</a:t>
            </a:r>
          </a:p>
          <a:p>
            <a:pPr marL="128016" indent="-128016" algn="l">
              <a:spcBef>
                <a:spcPts val="200"/>
              </a:spcBef>
              <a:buClr>
                <a:srgbClr val="60A5FA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Exportable reports</a:t>
            </a:r>
          </a:p>
        </p:txBody>
      </p:sp>
      <p:sp>
        <p:nvSpPr>
          <p:cNvPr id="617" name="DF 617"/>
          <p:cNvSpPr/>
          <p:nvPr/>
        </p:nvSpPr>
        <p:spPr>
          <a:xfrm>
            <a:off x="304800" y="2946400"/>
            <a:ext cx="3606800" cy="355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SCATTERED DEPOSIT RECORDS</a:t>
            </a:r>
          </a:p>
        </p:txBody>
      </p:sp>
      <p:sp>
        <p:nvSpPr>
          <p:cNvPr id="618" name="DF 618"/>
          <p:cNvSpPr/>
          <p:nvPr/>
        </p:nvSpPr>
        <p:spPr>
          <a:xfrm>
            <a:off x="3987800" y="3035300"/>
            <a:ext cx="228600" cy="1778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19" name="DF 619"/>
          <p:cNvSpPr/>
          <p:nvPr/>
        </p:nvSpPr>
        <p:spPr>
          <a:xfrm>
            <a:off x="4292600" y="2946400"/>
            <a:ext cx="3606800" cy="355600"/>
          </a:xfrm>
          <a:prstGeom prst="rect">
            <a:avLst/>
          </a:prstGeom>
          <a:solidFill>
            <a:srgbClr val="EFF6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F3864"/>
                </a:solidFill>
                <a:latin typeface="Calibri"/>
                <a:cs typeface="Calibri"/>
              </a:rPr>
              <a:t>DepositFlow Register</a:t>
            </a:r>
          </a:p>
        </p:txBody>
      </p:sp>
      <p:sp>
        <p:nvSpPr>
          <p:cNvPr id="620" name="DF 620"/>
          <p:cNvSpPr/>
          <p:nvPr/>
        </p:nvSpPr>
        <p:spPr>
          <a:xfrm>
            <a:off x="7975600" y="3035300"/>
            <a:ext cx="228600" cy="1778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21" name="DF 621"/>
          <p:cNvSpPr/>
          <p:nvPr/>
        </p:nvSpPr>
        <p:spPr>
          <a:xfrm>
            <a:off x="8280400" y="2946400"/>
            <a:ext cx="3606800" cy="355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ACCOUNTABLE, ON-TIME DECISIONS</a:t>
            </a:r>
          </a:p>
        </p:txBody>
      </p:sp>
      <p:sp>
        <p:nvSpPr>
          <p:cNvPr id="622" name="DF 622"/>
          <p:cNvSpPr/>
          <p:nvPr/>
        </p:nvSpPr>
        <p:spPr>
          <a:xfrm>
            <a:off x="304800" y="3378200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1D4ED8"/>
                </a:solidFill>
                <a:latin typeface="Calibri"/>
                <a:cs typeface="Calibri"/>
              </a:rPr>
              <a:t>STRATEGIC IMPACT &amp; ECONOMIC BENEFITS</a:t>
            </a:r>
          </a:p>
        </p:txBody>
      </p:sp>
      <p:cxnSp>
        <p:nvCxnSpPr>
          <p:cNvPr id="623" name="DF line 623"/>
          <p:cNvCxnSpPr/>
          <p:nvPr/>
        </p:nvCxnSpPr>
        <p:spPr>
          <a:xfrm>
            <a:off x="304800" y="3632200"/>
            <a:ext cx="115824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624" name="SDG panel"/>
          <p:cNvSpPr/>
          <p:nvPr/>
        </p:nvSpPr>
        <p:spPr>
          <a:xfrm>
            <a:off x="304800" y="3733800"/>
            <a:ext cx="3200400" cy="2514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25" name="DF 625"/>
          <p:cNvSpPr/>
          <p:nvPr/>
        </p:nvSpPr>
        <p:spPr>
          <a:xfrm>
            <a:off x="457200" y="3810000"/>
            <a:ext cx="289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Sustainable Development</a:t>
            </a:r>
          </a:p>
        </p:txBody>
      </p:sp>
      <p:sp>
        <p:nvSpPr>
          <p:cNvPr id="626" name="DF 626"/>
          <p:cNvSpPr/>
          <p:nvPr/>
        </p:nvSpPr>
        <p:spPr>
          <a:xfrm>
            <a:off x="457200" y="4140200"/>
            <a:ext cx="584200" cy="55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SDG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627" name="DF 627"/>
          <p:cNvSpPr/>
          <p:nvPr/>
        </p:nvSpPr>
        <p:spPr>
          <a:xfrm>
            <a:off x="1143000" y="4114800"/>
            <a:ext cx="226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Peace, Justice &amp; Strong Institutions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100" dirty="0">
                <a:solidFill>
                  <a:srgbClr val="DBEAFE"/>
                </a:solidFill>
                <a:latin typeface="Calibri"/>
                <a:cs typeface="Calibri"/>
              </a:rPr>
              <a:t>(16.6: accountable, transparent institutions)</a:t>
            </a:r>
          </a:p>
        </p:txBody>
      </p:sp>
      <p:sp>
        <p:nvSpPr>
          <p:cNvPr id="628" name="DF 628"/>
          <p:cNvSpPr/>
          <p:nvPr/>
        </p:nvSpPr>
        <p:spPr>
          <a:xfrm>
            <a:off x="457200" y="4800600"/>
            <a:ext cx="584200" cy="55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SDG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629" name="DF 629"/>
          <p:cNvSpPr/>
          <p:nvPr/>
        </p:nvSpPr>
        <p:spPr>
          <a:xfrm>
            <a:off x="1143000" y="48006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cs typeface="Calibri"/>
              </a:rPr>
              <a:t>Industry, Innovation &amp; Infrastructure</a:t>
            </a:r>
          </a:p>
        </p:txBody>
      </p:sp>
      <p:cxnSp>
        <p:nvCxnSpPr>
          <p:cNvPr id="630" name="DF line 630"/>
          <p:cNvCxnSpPr/>
          <p:nvPr/>
        </p:nvCxnSpPr>
        <p:spPr>
          <a:xfrm>
            <a:off x="457200" y="5461000"/>
            <a:ext cx="2895600" cy="0"/>
          </a:xfrm>
          <a:prstGeom prst="line">
            <a:avLst/>
          </a:prstGeom>
          <a:ln w="9525">
            <a:solidFill>
              <a:srgbClr val="93C5FD"/>
            </a:solidFill>
          </a:ln>
        </p:spPr>
      </p:cxnSp>
      <p:sp>
        <p:nvSpPr>
          <p:cNvPr id="631" name="DF 631"/>
          <p:cNvSpPr/>
          <p:nvPr/>
        </p:nvSpPr>
        <p:spPr>
          <a:xfrm>
            <a:off x="457200" y="5511800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DBEAFE"/>
                </a:solidFill>
                <a:latin typeface="Calibri"/>
                <a:cs typeface="Calibri"/>
              </a:rPr>
              <a:t>SUPPORTS</a:t>
            </a:r>
          </a:p>
          <a:p>
            <a:pPr marL="128016" indent="-128016" algn="l">
              <a:spcBef>
                <a:spcPts val="200"/>
              </a:spcBef>
              <a:buClr>
                <a:srgbClr val="FFFFFF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Digital India</a:t>
            </a:r>
          </a:p>
          <a:p>
            <a:pPr marL="128016" indent="-128016" algn="l">
              <a:spcBef>
                <a:spcPts val="100"/>
              </a:spcBef>
              <a:buClr>
                <a:srgbClr val="FFFFFF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Paperless Governance</a:t>
            </a:r>
          </a:p>
        </p:txBody>
      </p:sp>
      <p:sp>
        <p:nvSpPr>
          <p:cNvPr id="632" name="Benefit 1"/>
          <p:cNvSpPr/>
          <p:nvPr/>
        </p:nvSpPr>
        <p:spPr>
          <a:xfrm>
            <a:off x="3632200" y="3733800"/>
            <a:ext cx="4064000" cy="1193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33" name="DF 633"/>
          <p:cNvSpPr/>
          <p:nvPr/>
        </p:nvSpPr>
        <p:spPr>
          <a:xfrm>
            <a:off x="3632200" y="3733800"/>
            <a:ext cx="50800" cy="1193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34" name="DF 634"/>
          <p:cNvSpPr/>
          <p:nvPr/>
        </p:nvSpPr>
        <p:spPr>
          <a:xfrm>
            <a:off x="4140200" y="38354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Administrative Benefits</a:t>
            </a:r>
          </a:p>
        </p:txBody>
      </p:sp>
      <p:cxnSp>
        <p:nvCxnSpPr>
          <p:cNvPr id="635" name="DF line 635"/>
          <p:cNvCxnSpPr/>
          <p:nvPr/>
        </p:nvCxnSpPr>
        <p:spPr>
          <a:xfrm>
            <a:off x="3810000" y="4152900"/>
            <a:ext cx="3733800" cy="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36" name="DF 636"/>
          <p:cNvSpPr/>
          <p:nvPr/>
        </p:nvSpPr>
        <p:spPr>
          <a:xfrm>
            <a:off x="3810000" y="4241800"/>
            <a:ext cx="185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No missed maturities</a:t>
            </a:r>
          </a:p>
          <a:p>
            <a:pPr marL="128016" indent="-128016" algn="l">
              <a:spcBef>
                <a:spcPts val="40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Faster verification</a:t>
            </a:r>
          </a:p>
        </p:txBody>
      </p:sp>
      <p:sp>
        <p:nvSpPr>
          <p:cNvPr id="637" name="DF 637"/>
          <p:cNvSpPr/>
          <p:nvPr/>
        </p:nvSpPr>
        <p:spPr>
          <a:xfrm>
            <a:off x="5664200" y="4241800"/>
            <a:ext cx="185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One source of truth</a:t>
            </a:r>
          </a:p>
          <a:p>
            <a:pPr marL="128016" indent="-128016" algn="l">
              <a:spcBef>
                <a:spcPts val="40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Less follow-up by email</a:t>
            </a:r>
          </a:p>
        </p:txBody>
      </p:sp>
      <p:sp>
        <p:nvSpPr>
          <p:cNvPr id="638" name="Benefit 2"/>
          <p:cNvSpPr/>
          <p:nvPr/>
        </p:nvSpPr>
        <p:spPr>
          <a:xfrm>
            <a:off x="7823200" y="3733800"/>
            <a:ext cx="4064000" cy="1193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39" name="DF 639"/>
          <p:cNvSpPr/>
          <p:nvPr/>
        </p:nvSpPr>
        <p:spPr>
          <a:xfrm>
            <a:off x="7823200" y="3733800"/>
            <a:ext cx="50800" cy="1193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40" name="DF 640"/>
          <p:cNvSpPr/>
          <p:nvPr/>
        </p:nvSpPr>
        <p:spPr>
          <a:xfrm>
            <a:off x="8331200" y="38354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Economic Benefits</a:t>
            </a:r>
          </a:p>
        </p:txBody>
      </p:sp>
      <p:cxnSp>
        <p:nvCxnSpPr>
          <p:cNvPr id="641" name="DF line 641"/>
          <p:cNvCxnSpPr/>
          <p:nvPr/>
        </p:nvCxnSpPr>
        <p:spPr>
          <a:xfrm>
            <a:off x="8001000" y="4152900"/>
            <a:ext cx="3733800" cy="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42" name="DF 642"/>
          <p:cNvSpPr/>
          <p:nvPr/>
        </p:nvSpPr>
        <p:spPr>
          <a:xfrm>
            <a:off x="8001000" y="4241800"/>
            <a:ext cx="185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Runs on free-tier hosting</a:t>
            </a:r>
          </a:p>
          <a:p>
            <a:pPr marL="128016" indent="-128016" algn="l">
              <a:spcBef>
                <a:spcPts val="40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Open-source stack</a:t>
            </a:r>
          </a:p>
        </p:txBody>
      </p:sp>
      <p:sp>
        <p:nvSpPr>
          <p:cNvPr id="643" name="DF 643"/>
          <p:cNvSpPr/>
          <p:nvPr/>
        </p:nvSpPr>
        <p:spPr>
          <a:xfrm>
            <a:off x="9855200" y="4241800"/>
            <a:ext cx="185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Fewer lapsed deposits</a:t>
            </a:r>
          </a:p>
          <a:p>
            <a:pPr marL="128016" indent="-128016" algn="l">
              <a:spcBef>
                <a:spcPts val="40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Less manual effort</a:t>
            </a:r>
          </a:p>
        </p:txBody>
      </p:sp>
      <p:sp>
        <p:nvSpPr>
          <p:cNvPr id="644" name="Benefit 3"/>
          <p:cNvSpPr/>
          <p:nvPr/>
        </p:nvSpPr>
        <p:spPr>
          <a:xfrm>
            <a:off x="3632200" y="5054600"/>
            <a:ext cx="4064000" cy="1193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45" name="DF 645"/>
          <p:cNvSpPr/>
          <p:nvPr/>
        </p:nvSpPr>
        <p:spPr>
          <a:xfrm>
            <a:off x="3632200" y="5054600"/>
            <a:ext cx="50800" cy="1193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46" name="DF 646"/>
          <p:cNvSpPr/>
          <p:nvPr/>
        </p:nvSpPr>
        <p:spPr>
          <a:xfrm>
            <a:off x="4140200" y="5156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Security &amp; Compliance</a:t>
            </a:r>
          </a:p>
        </p:txBody>
      </p:sp>
      <p:cxnSp>
        <p:nvCxnSpPr>
          <p:cNvPr id="647" name="DF line 647"/>
          <p:cNvCxnSpPr/>
          <p:nvPr/>
        </p:nvCxnSpPr>
        <p:spPr>
          <a:xfrm>
            <a:off x="3810000" y="5473700"/>
            <a:ext cx="3733800" cy="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48" name="DF 648"/>
          <p:cNvSpPr/>
          <p:nvPr/>
        </p:nvSpPr>
        <p:spPr>
          <a:xfrm>
            <a:off x="3810000" y="5562600"/>
            <a:ext cx="185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Role-based access</a:t>
            </a:r>
          </a:p>
          <a:p>
            <a:pPr marL="128016" indent="-128016" algn="l">
              <a:spcBef>
                <a:spcPts val="40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Append-only audit trail</a:t>
            </a:r>
          </a:p>
        </p:txBody>
      </p:sp>
      <p:sp>
        <p:nvSpPr>
          <p:cNvPr id="649" name="DF 649"/>
          <p:cNvSpPr/>
          <p:nvPr/>
        </p:nvSpPr>
        <p:spPr>
          <a:xfrm>
            <a:off x="5664200" y="5562600"/>
            <a:ext cx="185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Hashed passwords</a:t>
            </a:r>
          </a:p>
          <a:p>
            <a:pPr marL="128016" indent="-128016" algn="l">
              <a:spcBef>
                <a:spcPts val="40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Private document storage</a:t>
            </a:r>
          </a:p>
        </p:txBody>
      </p:sp>
      <p:sp>
        <p:nvSpPr>
          <p:cNvPr id="650" name="Benefit 4"/>
          <p:cNvSpPr/>
          <p:nvPr/>
        </p:nvSpPr>
        <p:spPr>
          <a:xfrm>
            <a:off x="7823200" y="5054600"/>
            <a:ext cx="4064000" cy="1193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51" name="DF 651"/>
          <p:cNvSpPr/>
          <p:nvPr/>
        </p:nvSpPr>
        <p:spPr>
          <a:xfrm>
            <a:off x="7823200" y="5054600"/>
            <a:ext cx="50800" cy="1193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652" name="DF 652"/>
          <p:cNvSpPr/>
          <p:nvPr/>
        </p:nvSpPr>
        <p:spPr>
          <a:xfrm>
            <a:off x="8331200" y="5156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Strategic Benefits</a:t>
            </a:r>
          </a:p>
        </p:txBody>
      </p:sp>
      <p:cxnSp>
        <p:nvCxnSpPr>
          <p:cNvPr id="653" name="DF line 653"/>
          <p:cNvCxnSpPr/>
          <p:nvPr/>
        </p:nvCxnSpPr>
        <p:spPr>
          <a:xfrm>
            <a:off x="8001000" y="5473700"/>
            <a:ext cx="3733800" cy="0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sp>
        <p:nvSpPr>
          <p:cNvPr id="654" name="DF 654"/>
          <p:cNvSpPr/>
          <p:nvPr/>
        </p:nvSpPr>
        <p:spPr>
          <a:xfrm>
            <a:off x="8001000" y="5562600"/>
            <a:ext cx="185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Transparent regulation</a:t>
            </a:r>
          </a:p>
          <a:p>
            <a:pPr marL="128016" indent="-128016" algn="l">
              <a:spcBef>
                <a:spcPts val="40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Data for policy decisions</a:t>
            </a:r>
          </a:p>
        </p:txBody>
      </p:sp>
      <p:sp>
        <p:nvSpPr>
          <p:cNvPr id="655" name="DF 655"/>
          <p:cNvSpPr/>
          <p:nvPr/>
        </p:nvSpPr>
        <p:spPr>
          <a:xfrm>
            <a:off x="9855200" y="5562600"/>
            <a:ext cx="185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spcBef>
                <a:spcPts val="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Ready to extend nationally</a:t>
            </a:r>
          </a:p>
          <a:p>
            <a:pPr marL="128016" indent="-128016" algn="l">
              <a:spcBef>
                <a:spcPts val="400"/>
              </a:spcBef>
              <a:buClr>
                <a:srgbClr val="1D4ED8"/>
              </a:buClr>
              <a:buSzPct val="80000"/>
              <a:buFont typeface="Arial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Builds trust with institutions</a:t>
            </a:r>
          </a:p>
        </p:txBody>
      </p:sp>
      <p:pic>
        <p:nvPicPr>
          <p:cNvPr id="17410" name="Graphic 17410" descr="AICTE Regulation Bureau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562100"/>
            <a:ext cx="279400" cy="279400"/>
          </a:xfrm>
          <a:prstGeom prst="rect">
            <a:avLst/>
          </a:prstGeom>
        </p:spPr>
      </p:pic>
      <p:pic>
        <p:nvPicPr>
          <p:cNvPr id="17411" name="Graphic 17411" descr="Approved Institu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9080" y="1562100"/>
            <a:ext cx="279400" cy="279400"/>
          </a:xfrm>
          <a:prstGeom prst="rect">
            <a:avLst/>
          </a:prstGeom>
        </p:spPr>
      </p:pic>
      <p:pic>
        <p:nvPicPr>
          <p:cNvPr id="17412" name="Graphic 17412" descr="Verification Offic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0960" y="1562100"/>
            <a:ext cx="279400" cy="279400"/>
          </a:xfrm>
          <a:prstGeom prst="rect">
            <a:avLst/>
          </a:prstGeom>
        </p:spPr>
      </p:pic>
      <p:pic>
        <p:nvPicPr>
          <p:cNvPr id="17413" name="Graphic 17413" descr="Finance and Accoun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2840" y="1562100"/>
            <a:ext cx="279400" cy="279400"/>
          </a:xfrm>
          <a:prstGeom prst="rect">
            <a:avLst/>
          </a:prstGeom>
        </p:spPr>
      </p:pic>
      <p:pic>
        <p:nvPicPr>
          <p:cNvPr id="17414" name="Graphic 17414" descr="Auditors and Vigil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4720" y="1562100"/>
            <a:ext cx="279400" cy="279400"/>
          </a:xfrm>
          <a:prstGeom prst="rect">
            <a:avLst/>
          </a:prstGeom>
        </p:spPr>
      </p:pic>
      <p:pic>
        <p:nvPicPr>
          <p:cNvPr id="17415" name="Graphic 17415" descr="Administrative benefi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10000" y="3848100"/>
            <a:ext cx="254000" cy="254000"/>
          </a:xfrm>
          <a:prstGeom prst="rect">
            <a:avLst/>
          </a:prstGeom>
        </p:spPr>
      </p:pic>
      <p:pic>
        <p:nvPicPr>
          <p:cNvPr id="17416" name="Graphic 17416" descr="Economic benefi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1000" y="3848100"/>
            <a:ext cx="254000" cy="254000"/>
          </a:xfrm>
          <a:prstGeom prst="rect">
            <a:avLst/>
          </a:prstGeom>
        </p:spPr>
      </p:pic>
      <p:pic>
        <p:nvPicPr>
          <p:cNvPr id="17417" name="Graphic 17417" descr="Security and compli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10000" y="5168900"/>
            <a:ext cx="254000" cy="254000"/>
          </a:xfrm>
          <a:prstGeom prst="rect">
            <a:avLst/>
          </a:prstGeom>
        </p:spPr>
      </p:pic>
      <p:pic>
        <p:nvPicPr>
          <p:cNvPr id="17418" name="Graphic 17418" descr="Strategic benefi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01000" y="51689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4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1565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3600" b="1" dirty="0">
                <a:solidFill>
                  <a:srgbClr val="111111"/>
                </a:solidFill>
                <a:latin typeface="Times New Roman"/>
                <a:cs typeface="Times New Roman"/>
              </a:rPr>
              <a:t>RESEARCH AND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SPADES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F172A"/>
                </a:solidFill>
              </a:rPr>
              <a:t>SPADES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00" name="DF 700"/>
          <p:cNvSpPr/>
          <p:nvPr/>
        </p:nvSpPr>
        <p:spPr>
          <a:xfrm>
            <a:off x="304800" y="1168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LITERATURE SURVEY (RESEARCH-DRIVEN DESIGN)</a:t>
            </a:r>
          </a:p>
        </p:txBody>
      </p:sp>
      <p:cxnSp>
        <p:nvCxnSpPr>
          <p:cNvPr id="701" name="DF line 701"/>
          <p:cNvCxnSpPr/>
          <p:nvPr/>
        </p:nvCxnSpPr>
        <p:spPr>
          <a:xfrm>
            <a:off x="304800" y="1422400"/>
            <a:ext cx="57150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702" name="DF 702"/>
          <p:cNvSpPr/>
          <p:nvPr/>
        </p:nvSpPr>
        <p:spPr>
          <a:xfrm>
            <a:off x="6197600" y="1168400"/>
            <a:ext cx="568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D4ED8"/>
                </a:solidFill>
                <a:latin typeface="Calibri"/>
                <a:cs typeface="Calibri"/>
              </a:rPr>
              <a:t>PROTOTYPE &amp; TEST RESULTS</a:t>
            </a:r>
          </a:p>
        </p:txBody>
      </p:sp>
      <p:cxnSp>
        <p:nvCxnSpPr>
          <p:cNvPr id="703" name="DF line 703"/>
          <p:cNvCxnSpPr/>
          <p:nvPr/>
        </p:nvCxnSpPr>
        <p:spPr>
          <a:xfrm>
            <a:off x="6197600" y="1422400"/>
            <a:ext cx="5689600" cy="0"/>
          </a:xfrm>
          <a:prstGeom prst="line">
            <a:avLst/>
          </a:prstGeom>
          <a:ln w="9525">
            <a:solidFill>
              <a:srgbClr val="1D4ED8"/>
            </a:solidFill>
          </a:ln>
        </p:spPr>
      </p:cxnSp>
      <p:sp>
        <p:nvSpPr>
          <p:cNvPr id="704" name="Lit 1"/>
          <p:cNvSpPr/>
          <p:nvPr/>
        </p:nvSpPr>
        <p:spPr>
          <a:xfrm>
            <a:off x="304800" y="1498600"/>
            <a:ext cx="2832100" cy="1549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77800" tIns="1016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1D4ED8"/>
                </a:solidFill>
                <a:latin typeface="Calibri"/>
                <a:cs typeface="Calibri"/>
              </a:rPr>
              <a:t>1. SIH26265 Official Problem Statement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Expected outcomes: central repository, verification, maturity alerts, release workflow, audit.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SIH 2026 portal (sih.gov.in/sih2026PS)</a:t>
            </a:r>
          </a:p>
        </p:txBody>
      </p:sp>
      <p:sp>
        <p:nvSpPr>
          <p:cNvPr id="705" name="DF 705"/>
          <p:cNvSpPr/>
          <p:nvPr/>
        </p:nvSpPr>
        <p:spPr>
          <a:xfrm>
            <a:off x="304800" y="1498600"/>
            <a:ext cx="50800" cy="1549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06" name="Lit 2"/>
          <p:cNvSpPr/>
          <p:nvPr/>
        </p:nvSpPr>
        <p:spPr>
          <a:xfrm>
            <a:off x="3187700" y="1498600"/>
            <a:ext cx="2832100" cy="1549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77800" tIns="1016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1D4ED8"/>
                </a:solidFill>
                <a:latin typeface="Calibri"/>
                <a:cs typeface="Calibri"/>
              </a:rPr>
              <a:t>2. General Financial Rules 2017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Bid security and performance security rules for government deposits.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Department of Expenditure, Ministry of Finance</a:t>
            </a:r>
          </a:p>
        </p:txBody>
      </p:sp>
      <p:sp>
        <p:nvSpPr>
          <p:cNvPr id="707" name="DF 707"/>
          <p:cNvSpPr/>
          <p:nvPr/>
        </p:nvSpPr>
        <p:spPr>
          <a:xfrm>
            <a:off x="3187700" y="1498600"/>
            <a:ext cx="50800" cy="1549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08" name="Lit 3"/>
          <p:cNvSpPr/>
          <p:nvPr/>
        </p:nvSpPr>
        <p:spPr>
          <a:xfrm>
            <a:off x="304800" y="3111500"/>
            <a:ext cx="2832100" cy="1549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77800" tIns="1016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1D4ED8"/>
                </a:solidFill>
                <a:latin typeface="Calibri"/>
                <a:cs typeface="Calibri"/>
              </a:rPr>
              <a:t>3. NIST SP 800-63B Digital Identity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Length-based password policy, lockout and session limits.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NIST</a:t>
            </a:r>
          </a:p>
        </p:txBody>
      </p:sp>
      <p:sp>
        <p:nvSpPr>
          <p:cNvPr id="709" name="DF 709"/>
          <p:cNvSpPr/>
          <p:nvPr/>
        </p:nvSpPr>
        <p:spPr>
          <a:xfrm>
            <a:off x="304800" y="3111500"/>
            <a:ext cx="50800" cy="1549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10" name="Lit 4"/>
          <p:cNvSpPr/>
          <p:nvPr/>
        </p:nvSpPr>
        <p:spPr>
          <a:xfrm>
            <a:off x="3187700" y="3111500"/>
            <a:ext cx="2832100" cy="1549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77800" tIns="1016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1D4ED8"/>
                </a:solidFill>
                <a:latin typeface="Calibri"/>
                <a:cs typeface="Calibri"/>
              </a:rPr>
              <a:t>4. OWASP Top 10 &amp; ASVS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Access control, authentication and injection defences.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OWASP Foundation</a:t>
            </a:r>
          </a:p>
        </p:txBody>
      </p:sp>
      <p:sp>
        <p:nvSpPr>
          <p:cNvPr id="711" name="DF 711"/>
          <p:cNvSpPr/>
          <p:nvPr/>
        </p:nvSpPr>
        <p:spPr>
          <a:xfrm>
            <a:off x="3187700" y="3111500"/>
            <a:ext cx="50800" cy="1549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12" name="Lit 5"/>
          <p:cNvSpPr/>
          <p:nvPr/>
        </p:nvSpPr>
        <p:spPr>
          <a:xfrm>
            <a:off x="304800" y="4724400"/>
            <a:ext cx="2832100" cy="1549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77800" tIns="1016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1D4ED8"/>
                </a:solidFill>
                <a:latin typeface="Calibri"/>
                <a:cs typeface="Calibri"/>
              </a:rPr>
              <a:t>5. Digital Personal Data Protection Act 2023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Minimal personal data and protected storage.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Ministry of Electronics &amp; IT</a:t>
            </a:r>
          </a:p>
        </p:txBody>
      </p:sp>
      <p:sp>
        <p:nvSpPr>
          <p:cNvPr id="713" name="DF 713"/>
          <p:cNvSpPr/>
          <p:nvPr/>
        </p:nvSpPr>
        <p:spPr>
          <a:xfrm>
            <a:off x="304800" y="4724400"/>
            <a:ext cx="50800" cy="1549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14" name="Lit 6"/>
          <p:cNvSpPr/>
          <p:nvPr/>
        </p:nvSpPr>
        <p:spPr>
          <a:xfrm>
            <a:off x="3187700" y="4724400"/>
            <a:ext cx="2832100" cy="1549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77800" tIns="1016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1D4ED8"/>
                </a:solidFill>
                <a:latin typeface="Calibri"/>
                <a:cs typeface="Calibri"/>
              </a:rPr>
              <a:t>6. WCAG 2.2 Accessibility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Contrast, keyboard use and reduced motion for officers.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W3C</a:t>
            </a:r>
          </a:p>
        </p:txBody>
      </p:sp>
      <p:sp>
        <p:nvSpPr>
          <p:cNvPr id="715" name="DF 715"/>
          <p:cNvSpPr/>
          <p:nvPr/>
        </p:nvSpPr>
        <p:spPr>
          <a:xfrm>
            <a:off x="3187700" y="4724400"/>
            <a:ext cx="50800" cy="1549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16" name="Screenshot frame"/>
          <p:cNvSpPr/>
          <p:nvPr/>
        </p:nvSpPr>
        <p:spPr>
          <a:xfrm>
            <a:off x="6197600" y="1498600"/>
            <a:ext cx="3048000" cy="2108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17" name="Current status"/>
          <p:cNvSpPr/>
          <p:nvPr/>
        </p:nvSpPr>
        <p:spPr>
          <a:xfrm>
            <a:off x="9321800" y="1498600"/>
            <a:ext cx="2565400" cy="2108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39700" tIns="88900" rIns="76200" bIns="762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1D4ED8"/>
                </a:solidFill>
                <a:latin typeface="Calibri"/>
                <a:cs typeface="Calibri"/>
              </a:rPr>
              <a:t>CURRENT STATUS</a:t>
            </a:r>
          </a:p>
          <a:p>
            <a:pPr marL="152400" indent="-152400" algn="l">
              <a:spcBef>
                <a:spcPts val="0"/>
              </a:spcBef>
              <a:buClr>
                <a:srgbClr val="10B981"/>
              </a:buClr>
              <a:buFont typeface="Segoe UI Symbol"/>
              <a:buChar char="✓"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Portal:</a:t>
            </a: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 live, working prototype</a:t>
            </a:r>
          </a:p>
          <a:p>
            <a:pPr marL="152400" indent="-152400" algn="l">
              <a:spcBef>
                <a:spcPts val="0"/>
              </a:spcBef>
              <a:buClr>
                <a:srgbClr val="10B981"/>
              </a:buClr>
              <a:buFont typeface="Segoe UI Symbol"/>
              <a:buChar char="✓"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Login &amp; roles:</a:t>
            </a: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 implemented</a:t>
            </a:r>
          </a:p>
          <a:p>
            <a:pPr marL="152400" indent="-152400" algn="l">
              <a:spcBef>
                <a:spcPts val="0"/>
              </a:spcBef>
              <a:buClr>
                <a:srgbClr val="10B981"/>
              </a:buClr>
              <a:buFont typeface="Segoe UI Symbol"/>
              <a:buChar char="✓"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Alerts:</a:t>
            </a: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 scheduled and on demand</a:t>
            </a:r>
          </a:p>
          <a:p>
            <a:pPr marL="152400" indent="-152400" algn="l">
              <a:spcBef>
                <a:spcPts val="0"/>
              </a:spcBef>
              <a:buClr>
                <a:srgbClr val="10B981"/>
              </a:buClr>
              <a:buFont typeface="Segoe UI Symbol"/>
              <a:buChar char="✓"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Tests:</a:t>
            </a: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 89 passing</a:t>
            </a:r>
          </a:p>
          <a:p>
            <a:pPr marL="152400" indent="-152400" algn="l">
              <a:spcBef>
                <a:spcPts val="0"/>
              </a:spcBef>
              <a:buClr>
                <a:srgbClr val="F59E0B"/>
              </a:buClr>
              <a:buFont typeface="Segoe UI Symbol"/>
              <a:buChar char="○"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Bank verification API:</a:t>
            </a: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 awaiting access</a:t>
            </a:r>
          </a:p>
          <a:p>
            <a:pPr marL="152400" indent="-152400" algn="l">
              <a:spcBef>
                <a:spcPts val="0"/>
              </a:spcBef>
              <a:buClr>
                <a:srgbClr val="F59E0B"/>
              </a:buClr>
              <a:buFont typeface="Segoe UI Symbol"/>
              <a:buChar char="○"/>
            </a:pPr>
            <a:r>
              <a:rPr lang="en-US" sz="1100" b="1" dirty="0">
                <a:solidFill>
                  <a:srgbClr val="0F172A"/>
                </a:solidFill>
                <a:latin typeface="Calibri"/>
                <a:cs typeface="Calibri"/>
              </a:rPr>
              <a:t>Email / SMS:</a:t>
            </a:r>
            <a:r>
              <a:rPr lang="en-US" sz="1100" dirty="0">
                <a:solidFill>
                  <a:srgbClr val="0F172A"/>
                </a:solidFill>
                <a:latin typeface="Calibri"/>
                <a:cs typeface="Calibri"/>
              </a:rPr>
              <a:t> planned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1F3864"/>
                </a:solidFill>
                <a:latin typeface="Calibri"/>
                <a:cs typeface="Calibri"/>
              </a:rPr>
              <a:t>Benchmark: </a:t>
            </a:r>
            <a:r>
              <a:rPr lang="en-US" sz="1100" dirty="0">
                <a:solidFill>
                  <a:srgbClr val="1F3864"/>
                </a:solidFill>
                <a:latin typeface="Calibri"/>
                <a:cs typeface="Calibri"/>
              </a:rPr>
              <a:t>works within free-tier limits</a:t>
            </a:r>
          </a:p>
        </p:txBody>
      </p:sp>
      <p:sp>
        <p:nvSpPr>
          <p:cNvPr id="718" name="DF 718"/>
          <p:cNvSpPr/>
          <p:nvPr/>
        </p:nvSpPr>
        <p:spPr>
          <a:xfrm>
            <a:off x="9321800" y="1498600"/>
            <a:ext cx="50800" cy="2108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19" name="DF 719"/>
          <p:cNvSpPr/>
          <p:nvPr/>
        </p:nvSpPr>
        <p:spPr>
          <a:xfrm>
            <a:off x="6248400" y="36830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52400" indent="-15240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Maturity Calendar</a:t>
            </a:r>
          </a:p>
        </p:txBody>
      </p:sp>
      <p:sp>
        <p:nvSpPr>
          <p:cNvPr id="720" name="DF 720"/>
          <p:cNvSpPr/>
          <p:nvPr/>
        </p:nvSpPr>
        <p:spPr>
          <a:xfrm>
            <a:off x="8153400" y="36830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52400" indent="-15240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Document Verification</a:t>
            </a:r>
          </a:p>
        </p:txBody>
      </p:sp>
      <p:sp>
        <p:nvSpPr>
          <p:cNvPr id="721" name="DF 721"/>
          <p:cNvSpPr/>
          <p:nvPr/>
        </p:nvSpPr>
        <p:spPr>
          <a:xfrm>
            <a:off x="10058400" y="36830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52400" indent="-15240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Release Workflow</a:t>
            </a:r>
          </a:p>
        </p:txBody>
      </p:sp>
      <p:sp>
        <p:nvSpPr>
          <p:cNvPr id="722" name="DF 722"/>
          <p:cNvSpPr/>
          <p:nvPr/>
        </p:nvSpPr>
        <p:spPr>
          <a:xfrm>
            <a:off x="6248400" y="39243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52400" indent="-15240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Alert Engine</a:t>
            </a:r>
          </a:p>
        </p:txBody>
      </p:sp>
      <p:sp>
        <p:nvSpPr>
          <p:cNvPr id="723" name="DF 723"/>
          <p:cNvSpPr/>
          <p:nvPr/>
        </p:nvSpPr>
        <p:spPr>
          <a:xfrm>
            <a:off x="8153400" y="39243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52400" indent="-15240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Audit Trail</a:t>
            </a:r>
          </a:p>
        </p:txBody>
      </p:sp>
      <p:sp>
        <p:nvSpPr>
          <p:cNvPr id="724" name="DF 724"/>
          <p:cNvSpPr/>
          <p:nvPr/>
        </p:nvSpPr>
        <p:spPr>
          <a:xfrm>
            <a:off x="10058400" y="39243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152400" indent="-152400" algn="l">
              <a:spcBef>
                <a:spcPts val="0"/>
              </a:spcBef>
              <a:buClr>
                <a:srgbClr val="1D4ED8"/>
              </a:buClr>
              <a:buFont typeface="Segoe UI Symbol"/>
              <a:buChar char="✓"/>
            </a:pPr>
            <a:r>
              <a:rPr lang="en-US" sz="1200" b="1" dirty="0">
                <a:solidFill>
                  <a:srgbClr val="0F172A"/>
                </a:solidFill>
                <a:latin typeface="Calibri"/>
                <a:cs typeface="Calibri"/>
              </a:rPr>
              <a:t>CSV Reports</a:t>
            </a:r>
          </a:p>
        </p:txBody>
      </p:sp>
      <p:sp>
        <p:nvSpPr>
          <p:cNvPr id="725" name="DF 725"/>
          <p:cNvSpPr/>
          <p:nvPr/>
        </p:nvSpPr>
        <p:spPr>
          <a:xfrm>
            <a:off x="6197600" y="4229100"/>
            <a:ext cx="2819400" cy="8001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52400" tIns="63500" rIns="76200" bIns="635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1D4ED8"/>
                </a:solidFill>
                <a:latin typeface="Calibri"/>
                <a:cs typeface="Calibri"/>
              </a:rPr>
              <a:t>GAP &amp; PROBLEM IDENTIFICATION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50" dirty="0">
                <a:solidFill>
                  <a:srgbClr val="0F172A"/>
                </a:solidFill>
                <a:latin typeface="Calibri"/>
                <a:cs typeface="Calibri"/>
              </a:rPr>
              <a:t>Manual, email-based tracking of deposits.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SIH26265 problem statement</a:t>
            </a:r>
          </a:p>
        </p:txBody>
      </p:sp>
      <p:sp>
        <p:nvSpPr>
          <p:cNvPr id="726" name="DF 726"/>
          <p:cNvSpPr/>
          <p:nvPr/>
        </p:nvSpPr>
        <p:spPr>
          <a:xfrm>
            <a:off x="6197600" y="4229100"/>
            <a:ext cx="38100" cy="800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27" name="DF 727"/>
          <p:cNvSpPr/>
          <p:nvPr/>
        </p:nvSpPr>
        <p:spPr>
          <a:xfrm>
            <a:off x="9067800" y="4229100"/>
            <a:ext cx="2819400" cy="8001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52400" tIns="63500" rIns="76200" bIns="635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1D4ED8"/>
                </a:solidFill>
                <a:latin typeface="Calibri"/>
                <a:cs typeface="Calibri"/>
              </a:rPr>
              <a:t>EXISTING APPROACH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50" dirty="0">
                <a:solidFill>
                  <a:srgbClr val="0F172A"/>
                </a:solidFill>
                <a:latin typeface="Calibri"/>
                <a:cs typeface="Calibri"/>
              </a:rPr>
              <a:t>Spreadsheets and paper files vs a single audited register.</a:t>
            </a:r>
          </a:p>
        </p:txBody>
      </p:sp>
      <p:sp>
        <p:nvSpPr>
          <p:cNvPr id="728" name="DF 728"/>
          <p:cNvSpPr/>
          <p:nvPr/>
        </p:nvSpPr>
        <p:spPr>
          <a:xfrm>
            <a:off x="9067800" y="4229100"/>
            <a:ext cx="38100" cy="800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29" name="DF 729"/>
          <p:cNvSpPr/>
          <p:nvPr/>
        </p:nvSpPr>
        <p:spPr>
          <a:xfrm>
            <a:off x="6197600" y="5092700"/>
            <a:ext cx="2819400" cy="8001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52400" tIns="63500" rIns="76200" bIns="635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1D4ED8"/>
                </a:solidFill>
                <a:latin typeface="Calibri"/>
                <a:cs typeface="Calibri"/>
              </a:rPr>
              <a:t>SECURITY BENCHMARK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50" dirty="0">
                <a:solidFill>
                  <a:srgbClr val="0F172A"/>
                </a:solidFill>
                <a:latin typeface="Calibri"/>
                <a:cs typeface="Calibri"/>
              </a:rPr>
              <a:t>Controls mapped to OWASP Top 10.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OWASP</a:t>
            </a:r>
          </a:p>
        </p:txBody>
      </p:sp>
      <p:sp>
        <p:nvSpPr>
          <p:cNvPr id="730" name="DF 730"/>
          <p:cNvSpPr/>
          <p:nvPr/>
        </p:nvSpPr>
        <p:spPr>
          <a:xfrm>
            <a:off x="6197600" y="5092700"/>
            <a:ext cx="38100" cy="800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31" name="DF 731"/>
          <p:cNvSpPr/>
          <p:nvPr/>
        </p:nvSpPr>
        <p:spPr>
          <a:xfrm>
            <a:off x="9067800" y="5092700"/>
            <a:ext cx="2819400" cy="8001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52400" tIns="63500" rIns="76200" bIns="635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1D4ED8"/>
                </a:solidFill>
                <a:latin typeface="Calibri"/>
                <a:cs typeface="Calibri"/>
              </a:rPr>
              <a:t>POLICY ALIGNMENT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50" dirty="0">
                <a:solidFill>
                  <a:srgbClr val="0F172A"/>
                </a:solidFill>
                <a:latin typeface="Calibri"/>
                <a:cs typeface="Calibri"/>
              </a:rPr>
              <a:t>Digital India, paperless governance.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75569"/>
                </a:solidFill>
                <a:latin typeface="Calibri"/>
                <a:cs typeface="Calibri"/>
              </a:rPr>
              <a:t>Source: </a:t>
            </a:r>
            <a:r>
              <a:rPr lang="en-US" sz="1100" dirty="0">
                <a:solidFill>
                  <a:srgbClr val="1D4ED8"/>
                </a:solidFill>
                <a:latin typeface="Calibri"/>
                <a:cs typeface="Calibri"/>
              </a:rPr>
              <a:t>MeitY</a:t>
            </a:r>
          </a:p>
        </p:txBody>
      </p:sp>
      <p:sp>
        <p:nvSpPr>
          <p:cNvPr id="732" name="DF 732"/>
          <p:cNvSpPr/>
          <p:nvPr/>
        </p:nvSpPr>
        <p:spPr>
          <a:xfrm>
            <a:off x="9067800" y="5092700"/>
            <a:ext cx="38100" cy="800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 sz="1100" dirty="0"/>
          </a:p>
        </p:txBody>
      </p:sp>
      <p:sp>
        <p:nvSpPr>
          <p:cNvPr id="733" name="Developed portal"/>
          <p:cNvSpPr/>
          <p:nvPr/>
        </p:nvSpPr>
        <p:spPr>
          <a:xfrm>
            <a:off x="6197600" y="5969000"/>
            <a:ext cx="5689600" cy="304800"/>
          </a:xfrm>
          <a:prstGeom prst="rect">
            <a:avLst/>
          </a:prstGeom>
          <a:solidFill>
            <a:srgbClr val="F1F5F9"/>
          </a:solidFill>
          <a:ln w="9525">
            <a:solidFill>
              <a:srgbClr val="1F3864"/>
            </a:solidFill>
          </a:ln>
        </p:spPr>
        <p:txBody>
          <a:bodyPr wrap="square" lIns="152400" tIns="0" rIns="1016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0F172A"/>
                </a:solidFill>
                <a:latin typeface="Calibri"/>
                <a:cs typeface="Calibri"/>
              </a:rPr>
              <a:t>Developed Portal: </a:t>
            </a:r>
            <a:r>
              <a:rPr lang="en-US" sz="1200" b="1" dirty="0">
                <a:solidFill>
                  <a:srgbClr val="1F3864"/>
                </a:solidFill>
                <a:latin typeface="Calibri"/>
                <a:cs typeface="Calibri"/>
              </a:rPr>
              <a:t>DepositFlow</a:t>
            </a:r>
            <a:r>
              <a:rPr lang="en-US" sz="1150" dirty="0">
                <a:solidFill>
                  <a:srgbClr val="475569"/>
                </a:solidFill>
                <a:latin typeface="Calibri"/>
                <a:cs typeface="Calibri"/>
              </a:rPr>
              <a:t>   ·   Live: </a:t>
            </a:r>
            <a:r>
              <a:rPr lang="en-US" sz="1200" b="1" u="sng" dirty="0">
                <a:solidFill>
                  <a:srgbClr val="1D4ED8"/>
                </a:solidFill>
                <a:latin typeface="Calibri"/>
                <a:cs typeface="Calibri"/>
              </a:rPr>
              <a:t>https://deposit-flow-inky.vercel.app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C08AE9-8E4F-30B6-6FA0-8C036DB44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0" y="1577975"/>
            <a:ext cx="29718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6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A54DB8-DD7A-4B98-A76F-14C70472263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b81410d-e97e-4d39-a147-bfcc93f11b0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7531</TotalTime>
  <Words>1107</Words>
  <Application>Microsoft Office PowerPoint</Application>
  <PresentationFormat>Widescreen</PresentationFormat>
  <Paragraphs>263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Segoe UI Symbol</vt:lpstr>
      <vt:lpstr>Times New Roman</vt:lpstr>
      <vt:lpstr>TradeGothic</vt:lpstr>
      <vt:lpstr>Office Theme</vt:lpstr>
      <vt:lpstr>SMART INDIA HACKATHON 2026</vt:lpstr>
      <vt:lpstr>PROBLEM STATEMENT &amp; PROPOSED SOLUTION</vt:lpstr>
      <vt:lpstr>TECHNICAL APPROACH</vt:lpstr>
      <vt:lpstr>FEASIBILITY AND VIABILITY</vt:lpstr>
      <vt:lpstr>IMPACT AND BENEFITS</vt:lpstr>
      <vt:lpstr>RESEARCH AND ANALYSIS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Manoj S</cp:lastModifiedBy>
  <cp:revision>149</cp:revision>
  <dcterms:created xsi:type="dcterms:W3CDTF">2013-12-12T18:46:50Z</dcterms:created>
  <dcterms:modified xsi:type="dcterms:W3CDTF">2026-10-27T07:49:19Z</dcterms:modified>
  <cp:category/>
</cp:coreProperties>
</file>